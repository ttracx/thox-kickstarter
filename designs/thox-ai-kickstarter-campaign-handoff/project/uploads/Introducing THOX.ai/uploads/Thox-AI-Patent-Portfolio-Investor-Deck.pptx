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32004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NOT FILED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THOX</a:t>
            </a:r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Portfolio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inventions across hardware, silicon, inference, agents, and protocols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246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as a single consolidated provisional under micro entity status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4480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60320" y="4480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4480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4944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949440" y="4480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THOX.AI LLC  ·  CONFIDENTIAL  ·  PREPARED FOR PROSPECTIVE INVESTORS UNDER NDA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STRATEGIC FRAMING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portfolio creates defensibility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creates four reinforcing moats that no software-only competitor can replicate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114800" cy="155448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05840" y="180136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8013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22128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interconnect first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25786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clustering is a form factor competitors cannot ship without custom hardware tooling. Design patent and utility claims protect the category.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1554480"/>
            <a:ext cx="4114800" cy="155448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554480"/>
            <a:ext cx="54864" cy="15544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37360"/>
            <a:ext cx="365760" cy="3657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303520" y="1801368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03520" y="18013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846320" y="22128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On-die compression advantage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846320" y="25786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Int7+1 and PolarQuant Q4 give edge devices long-context inference at memory budgets that cloud-only stacks cannot match without expensive infrastructure.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5760" y="3200400"/>
            <a:ext cx="4114800" cy="155448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5760" y="3200400"/>
            <a:ext cx="54864" cy="15544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83280"/>
            <a:ext cx="365760" cy="3657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005840" y="344728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005840" y="34472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48640" y="3858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cognition substrate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548640" y="42245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Memory Protocol with continuous-time coupling turns a cluster into a single distributed model. Not a feature, a new compute primitive.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663440" y="3200400"/>
            <a:ext cx="4114800" cy="155448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663440" y="320040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383280"/>
            <a:ext cx="365760" cy="36576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5303520" y="3447288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F4444">
              <a:alpha val="2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303520" y="344728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846320" y="3858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Hardware-rooted compliance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4846320" y="42245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TPM-attested agents and PUF-derived encryption unlock regulated markets (healthcare, legal, finance, defense) closed to general-purpose AI vendors.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5" name="Text 29"/>
          <p:cNvSpPr/>
          <p:nvPr/>
        </p:nvSpPr>
        <p:spPr>
          <a:xfrm>
            <a:off x="365760" y="4937760"/>
            <a:ext cx="3657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THOX.AI LLC  ·  CONFIDENTIAL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768096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PORTFOLIO SCALE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at a glance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consolidated provisional. Single $80 micro entity fee. Single priority date for all 32 inventions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160020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783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1645920"/>
            <a:ext cx="160020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1783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103120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1645920"/>
            <a:ext cx="160020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1783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840480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645920"/>
            <a:ext cx="160020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77840" y="1783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5577840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0" y="1645920"/>
            <a:ext cx="160020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0" y="1783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315200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FEE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INVENTIONS BY DOMAIN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131445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611880"/>
            <a:ext cx="1314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80210" y="3611880"/>
            <a:ext cx="184023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1680210" y="3611880"/>
            <a:ext cx="1840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20440" y="3611880"/>
            <a:ext cx="236601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611880"/>
            <a:ext cx="23660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86450" y="3611880"/>
            <a:ext cx="1577340" cy="4572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9" name="Text 27"/>
          <p:cNvSpPr/>
          <p:nvPr/>
        </p:nvSpPr>
        <p:spPr>
          <a:xfrm>
            <a:off x="5886450" y="3611880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63790" y="3611880"/>
            <a:ext cx="131445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7463790" y="3611880"/>
            <a:ext cx="1314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425196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2519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STATUS  </a:t>
            </a:r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</a:rPr>
              <a:t>NOT FILED. </a:t>
            </a:r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Ready for USPTO Patent Center upload. PCT 12-month deadline begins from actual filing date.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937760"/>
            <a:ext cx="3657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THOX.AI LLC  ·  CONFIDENTIAL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68096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DOMAIN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domains, one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the product is covered, from physical interconnect to user-facing agents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737360" cy="310896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54864" cy="31089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783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23317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502920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35661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clustering, thermal, optical, sensors, ornamental design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157984" y="1554480"/>
            <a:ext cx="1737360" cy="310896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157984" y="1554480"/>
            <a:ext cx="54864" cy="31089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44" y="17373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98064" y="1783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295144" y="23317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400" dirty="0"/>
          </a:p>
        </p:txBody>
      </p:sp>
      <p:sp>
        <p:nvSpPr>
          <p:cNvPr id="18" name="Text 14"/>
          <p:cNvSpPr/>
          <p:nvPr/>
        </p:nvSpPr>
        <p:spPr>
          <a:xfrm>
            <a:off x="2295144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295144" y="35661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ThoxCPU, quantization, NPU, sensor frontend, HSM, quantum sim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950208" y="1554480"/>
            <a:ext cx="1737360" cy="310896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950208" y="1554480"/>
            <a:ext cx="54864" cy="310896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" y="173736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590288" y="1783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087368" y="23317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400" dirty="0"/>
          </a:p>
        </p:txBody>
      </p:sp>
      <p:sp>
        <p:nvSpPr>
          <p:cNvPr id="25" name="Text 20"/>
          <p:cNvSpPr/>
          <p:nvPr/>
        </p:nvSpPr>
        <p:spPr>
          <a:xfrm>
            <a:off x="4087368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087368" y="35661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ThoxOS, KV cache tiers, schedulers, routing, federated tuning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742432" y="1554480"/>
            <a:ext cx="1737360" cy="310896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742432" y="1554480"/>
            <a:ext cx="54864" cy="310896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73736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382512" y="1783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879592" y="23317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400" dirty="0"/>
          </a:p>
        </p:txBody>
      </p:sp>
      <p:sp>
        <p:nvSpPr>
          <p:cNvPr id="32" name="Text 26"/>
          <p:cNvSpPr/>
          <p:nvPr/>
        </p:nvSpPr>
        <p:spPr>
          <a:xfrm>
            <a:off x="5879592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879592" y="35661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TPM-rooted swarms, MCP server, digital clones, multi-modal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534656" y="1554480"/>
            <a:ext cx="1737360" cy="310896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534656" y="1554480"/>
            <a:ext cx="54864" cy="31089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1737360"/>
            <a:ext cx="457200" cy="4572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174736" y="1783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7671816" y="23317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400" dirty="0"/>
          </a:p>
        </p:txBody>
      </p:sp>
      <p:sp>
        <p:nvSpPr>
          <p:cNvPr id="39" name="Text 32"/>
          <p:cNvSpPr/>
          <p:nvPr/>
        </p:nvSpPr>
        <p:spPr>
          <a:xfrm>
            <a:off x="7671816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inventions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7671816" y="35661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MagStack stack, MMP, telemetry, A/B firmware, CRDT sync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42" name="Text 35"/>
          <p:cNvSpPr/>
          <p:nvPr/>
        </p:nvSpPr>
        <p:spPr>
          <a:xfrm>
            <a:off x="365760" y="4937760"/>
            <a:ext cx="3657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THOX.AI LLC  ·  CONFIDENTIAL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768096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HIGHEST-LEVERAGE IP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 jewels: five inventions that anchor the moat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27 inventions reinforce these. Loss of any one would weaken the others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MagStack Ornamental Design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1600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patent on the magnetically-coupled clustering form factor; first-mover protection on the physical interconnect that defines the product category.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841248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12848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1284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2128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PolarQuant Q4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22585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16x context length scaling on the same memory budget; enables long-context workloads on edge devices that cloud-only competitors cannot match without expensive infrastructure.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871216"/>
            <a:ext cx="841248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71216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7121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287121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Cognition Protocol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29169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Continuous-time hidden-state coupling across devices; the substrate that turns a cluster into a single distributed model rather than separate inference instances.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529584"/>
            <a:ext cx="841248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529584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29584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352958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ThoxCPU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35753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pipeline reconfiguration with on-die CfC unit and MagStack DMA; the silicon foundation that makes the entire stack possible.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187952"/>
            <a:ext cx="841248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187952"/>
            <a:ext cx="54864" cy="5943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18795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63040" y="41879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Swarm + TPM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31920" y="42336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Hardware-rooted trust for autonomous agents in regulated industries; the compliance moat that competitors without dedicated silicon cannot replicate.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937760"/>
            <a:ext cx="3657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THOX.AI LLC  ·  CONFIDENTIAL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8096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HARDWARE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inventions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inventions covering the physical interconnect, thermal, optical, sensor, and ornamental design layers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2704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4650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MagStack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Free-space VCSEL interconnect with passive magnetic alignment; 40 Gbps aggregate over 4 WDM channels.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15640" y="141732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5640" y="141732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352800" y="152704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52800" y="174650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Dock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2800" y="214884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Eight-slot magnetic cluster dock with per-slot hot-swap power sequencing and thermal aggregation.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65520" y="141732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65520" y="141732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202680" y="152704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02680" y="174650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MagStack Ornamental 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02680" y="214884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patent on the magnetically-coupled clustering interface form factor (six orthographic views).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0040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31012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52958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Fanless Thermal Architecture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93192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6061-T6 aluminum unibody with vapor chamber and phase-change TIM; passive cooling under sustained inference load.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15640" y="320040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5640" y="320040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352800" y="331012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52800" y="352958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Multi-Sensor PCB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52800" y="393192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Nine-sensor fusion PCB with Hall arrays geometrically positioned for MagStack discovery before pogo contact.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937760"/>
            <a:ext cx="3657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THOX.AI LLC  ·  CONFIDENTIAL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8096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SILICON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inventions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inventions spanning compute architecture, quantization, NPU dataflow, sensor frontend, and on-die security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00025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27048"/>
            <a:ext cx="1725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46504"/>
            <a:ext cx="17259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Quantum Simulation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172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Index-bit swap protocol and Raft consensus for distributed quantum state vector simulation across magnetically-coupled cluster.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03170" y="1417320"/>
            <a:ext cx="200025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03170" y="141732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2640330" y="1527048"/>
            <a:ext cx="1725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40330" y="1746504"/>
            <a:ext cx="17259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Int7+1 Position-Encoded Quantization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40330" y="2148840"/>
            <a:ext cx="172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format with position-encoded sign and structured 1:2 sparsity, executable on standard INT8 systolic arrays.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40580" y="1417320"/>
            <a:ext cx="200025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0580" y="141732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777740" y="1527048"/>
            <a:ext cx="1725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7740" y="1746504"/>
            <a:ext cx="17259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ThoxCPU Heterogeneous Processor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77740" y="2148840"/>
            <a:ext cx="172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pipeline reconfiguration with on-die CfC continuous-time vector unit and MagStack DMA.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77990" y="1417320"/>
            <a:ext cx="200025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77990" y="141732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915150" y="1527048"/>
            <a:ext cx="1725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15150" y="1746504"/>
            <a:ext cx="17259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PolarQuant Q4 Compression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15150" y="2148840"/>
            <a:ext cx="172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coordinate KV cache compression with fused FlashAttention kernel; 16x context length scaling vs FP16 baseline.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200400"/>
            <a:ext cx="200025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20040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310128"/>
            <a:ext cx="1725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IP-030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529584"/>
            <a:ext cx="17259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Reconfigurable NPU Tile Array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931920"/>
            <a:ext cx="172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dataflow pattern switching (weight-stationary, output-stationary) with per-tile power gating.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03170" y="3200400"/>
            <a:ext cx="200025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03170" y="320040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2640330" y="3310128"/>
            <a:ext cx="1725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IP-031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40330" y="3529584"/>
            <a:ext cx="17259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Mixed-Signal Sensor Frontend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40330" y="3931920"/>
            <a:ext cx="172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Low-power per-column ADC bank with in-pixel counter architecture for always-on perception.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40580" y="3200400"/>
            <a:ext cx="200025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40580" y="320040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4777740" y="3310128"/>
            <a:ext cx="1725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IP-032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7740" y="3529584"/>
            <a:ext cx="17259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 with PUF Root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77740" y="3931920"/>
            <a:ext cx="172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On-die hardware security module with PUF-derived key for streaming model decryption inside SRAM only.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937760"/>
            <a:ext cx="3657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THOX.AI LLC  ·  CONFIDENTIAL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68096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INFERENCE (CORE)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inventions, part 1: core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Foundations: the edge OS, the memory hierarchy, the scheduler, the deterministic 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2704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4650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Cognition (CfC)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Continuous-time hidden-state coupling across distributed devices using Kuramoto synchronization dynamics.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15640" y="141732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5640" y="141732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352800" y="152704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52800" y="174650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Attention + NVMe KV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2800" y="214884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NVMe key-value cache with sparse indexed attention scoring across five storage tiers.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65520" y="141732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65520" y="141732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202680" y="152704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02680" y="174650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Aggregation Scheduler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02680" y="214884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PID-controlled concurrent prefill and decode scheduling for deterministic edge latency.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0040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31012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52958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Software Pipelining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93192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GPU+DLA+CPU tile schedule with overlapped execution and zero-spill SRAM allocation.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15640" y="320040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5640" y="320040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3352800" y="331012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52800" y="352958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ThoxOS Real-Time Edge AI 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52800" y="393192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microkernel with UMA pool allocator, agent sandbox, and MCP-native API surface.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937760"/>
            <a:ext cx="3657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THOX.AI LLC  ·  CONFIDENTIAL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8096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INFERENCE (ADVANCED)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inventions, part 2: scale and efficiency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Tensor-parallel sharding, intelligent routing, hybrid memory retrieval, and federated fine-tuning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000250" cy="34290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54864" cy="3429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27048"/>
            <a:ext cx="1725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46504"/>
            <a:ext cx="17259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Tensor-Parallel Sharding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172593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Tensor-parallel weight sharding with SRAM-local all-reduce across magnetically-coupled cluster.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03170" y="1417320"/>
            <a:ext cx="2000250" cy="34290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03170" y="1417320"/>
            <a:ext cx="54864" cy="3429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640330" y="1527048"/>
            <a:ext cx="1725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40330" y="1746504"/>
            <a:ext cx="17259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Model Router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40330" y="2148840"/>
            <a:ext cx="172593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routing across tiered models with confidence-threshold escalation; minimum-cost path per query.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40580" y="1417320"/>
            <a:ext cx="2000250" cy="34290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0580" y="1417320"/>
            <a:ext cx="54864" cy="3429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777740" y="1527048"/>
            <a:ext cx="1725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7740" y="1746504"/>
            <a:ext cx="17259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Vector + Symbolic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77740" y="2148840"/>
            <a:ext cx="172593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vector index and symbolic knowledge graph retrieval with cluster-aware context integration.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77990" y="1417320"/>
            <a:ext cx="2000250" cy="342900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77990" y="1417320"/>
            <a:ext cx="54864" cy="3429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915150" y="1527048"/>
            <a:ext cx="1725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15150" y="1746504"/>
            <a:ext cx="17259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Fine-Tuning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15150" y="2148840"/>
            <a:ext cx="172593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Shamir secret sharing for gradient aggregation; no raw gradient ever leaves the device.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937760"/>
            <a:ext cx="3657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THOX.AI LLC  ·  CONFIDENTIAL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68096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AGENTS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inventions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inventions covering autonomous agent swarms, multi-agent editing, bitemporal rules, MCP server, clones, and multi-modal perception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54864" cy="16459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2704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4650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Baremetal Agent Swarm + TPM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TPM-rooted trust chain for autonomous agent swarms with PCR-anchored attestation tokens.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15640" y="141732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5640" y="1417320"/>
            <a:ext cx="54864" cy="16459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3352800" y="152704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52800" y="174650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Hashlines File Editing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2800" y="214884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multi-agent file editing with concurrent rebase resolution across line ranges.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65520" y="141732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65520" y="1417320"/>
            <a:ext cx="54864" cy="16459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202680" y="152704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02680" y="174650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TTSR Bitemporal Rules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02680" y="214884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Time-traveling streamed rules engine with bitemporal storage and as-of query resolution.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00400"/>
            <a:ext cx="54864" cy="16459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31012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52958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Cluster-Aware MCP Server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93192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MCP-native edge inference server with capability sandbox and cluster-aware tool routing.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15640" y="320040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5640" y="3200400"/>
            <a:ext cx="54864" cy="16459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8" name="Text 26"/>
          <p:cNvSpPr/>
          <p:nvPr/>
        </p:nvSpPr>
        <p:spPr>
          <a:xfrm>
            <a:off x="3352800" y="331012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52800" y="352958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TPM-Bound Digital Clone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52800" y="393192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Hardware-bound voice and persona profile with inaudible watermarking and TPM-sealed unsealing.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65520" y="320040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65520" y="3200400"/>
            <a:ext cx="54864" cy="16459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3" name="Text 31"/>
          <p:cNvSpPr/>
          <p:nvPr/>
        </p:nvSpPr>
        <p:spPr>
          <a:xfrm>
            <a:off x="6202680" y="331012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02680" y="352958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Perception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02680" y="393192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audio, motion, touch fusion with adaptive modality dropout handling and cross-modal attention.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937760"/>
            <a:ext cx="3657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THOX.AI LLC  ·  CONFIDENTIAL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68096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PROTOCOLS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inventions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inventions covering the MagStack stack, mesh memory, telemetry, firmware update, and edge-cloud sync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54864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2704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4650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MagStack Protocol Stack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protocol from physical pogo-and-magnet to encrypted gRPC application transport.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15640" y="141732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5640" y="1417320"/>
            <a:ext cx="54864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3352800" y="152704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52800" y="174650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AI Trajectory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2800" y="214884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UET, MEC, CRE system tracking conversational valence and recovering from divergences.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65520" y="141732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65520" y="1417320"/>
            <a:ext cx="54864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202680" y="152704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02680" y="174650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Telemetry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02680" y="214884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Ed25519-signed CBOR frame protocol with nanosecond timestamps and cluster health aggregation.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00400"/>
            <a:ext cx="54864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31012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52958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Firmware Update + TPM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93192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A/B firmware update with TPM attestation gate and automatic health-based rollback.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15640" y="3200400"/>
            <a:ext cx="2712720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5640" y="3200400"/>
            <a:ext cx="54864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3352800" y="3310128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52800" y="3529584"/>
            <a:ext cx="243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Edge-Cloud CRDT Sync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52800" y="3931920"/>
            <a:ext cx="243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CRDT synchronization where the cloud coordinator carries ciphertext only; keys never leave devices.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937760"/>
            <a:ext cx="3657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THOX.AI LLC  ·  CONFIDENTIAL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8096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FILING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consolidated provisional, optimal expansion path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 can split at non-provisional conversion or pursue continuations on individual inventions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TIMELINE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99339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" y="2157984"/>
            <a:ext cx="0" cy="50292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package ready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PDFs assembled, $80 micro entity fee, USPTO Patent Center upload ready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6517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" y="2816352"/>
            <a:ext cx="0" cy="50292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487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26883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filed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898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priority date for all 32 inventions simultaneously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3101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93776" y="3474720"/>
            <a:ext cx="0" cy="50292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1455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3467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 review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557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highest-value claims for non-provisional conversion strategy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96849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8039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40050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Non-provisional + PCT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215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non-provisional, file PCT for international protection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1508760"/>
            <a:ext cx="3931920" cy="310896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834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ECONOMICS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20116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strategy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78040" y="2011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consolidated provisional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23591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Inventions covered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78040" y="23591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(IP-001 through IP-032)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27066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USPTO fee (micro entity)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270662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3054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32 individual filings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78040" y="305409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$2,560 (32x $80)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34015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via consolidation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78040" y="34015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$2,480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3749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date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78040" y="37490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uniform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83480" y="4096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count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78040" y="409651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(simpler tracking)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937760"/>
            <a:ext cx="3657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THOX.AI LLC  ·  CONFIDENTIAL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68096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9260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926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REFERENCE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portfolio index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32 inventions, classified by domain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1755648" cy="29260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IP-006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Optical MagStack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22585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IP-008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Cluster Dock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55117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IP-018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MagStack Ornamental Design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284378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IP-022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Fanless Thermal Architecture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313639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IP-023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Integrated Multi-Sensor PCB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57984" y="1554480"/>
            <a:ext cx="1755648" cy="292608"/>
          </a:xfrm>
          <a:prstGeom prst="rect">
            <a:avLst/>
          </a:prstGeom>
          <a:solidFill>
            <a:srgbClr val="10B981">
              <a:alpha val="2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57984" y="15544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03704" y="19659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IP-001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Distributed Quantum Simulation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03704" y="22585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IP-009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Int7+1 Position-Encoded Quantization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03704" y="255117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IP-010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ThoxCPU Heterogeneous Processor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03704" y="284378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IP-021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PolarQuant Q4 Compression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03704" y="313639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IP-030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Reconfigurable NPU Tile Array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203704" y="34290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IP-031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Mixed-Signal Sensor Frontend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03704" y="372160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IP-032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HSM with PUF Root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950208" y="1554480"/>
            <a:ext cx="1755648" cy="29260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50208" y="15544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95928" y="19659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IP-002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Mesh Cognition (CfC)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95928" y="22585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IP-003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Sparse Attention + NVMe KV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95928" y="255117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IP-004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Managed Aggregation Scheduler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995928" y="284378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IP-005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Tiled Software Pipelining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995928" y="313639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IP-011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Tensor-Parallel Sharding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995928" y="34290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IP-012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ThoxOS Real-Time Edge AI OS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95928" y="372160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IP-016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Intelligent Model Router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995928" y="401421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IP-019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Hybrid Vector + Symbolic Memory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995928" y="430682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IP-029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Federated Fine-Tuning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742432" y="1554480"/>
            <a:ext cx="1755648" cy="292608"/>
          </a:xfrm>
          <a:prstGeom prst="rect">
            <a:avLst/>
          </a:prstGeom>
          <a:solidFill>
            <a:srgbClr val="A855F7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42432" y="15544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88152" y="19659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IP-007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Baremetal Agent Swarm + TPM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88152" y="22585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IP-014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Hashlines File Editing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88152" y="255117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IP-015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TTSR Bitemporal Rules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788152" y="284378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IP-020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Cluster-Aware MCP Server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788152" y="313639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IP-024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TPM-Bound Digital Clone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788152" y="34290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IP-025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Multi-Modal Perception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534656" y="1554480"/>
            <a:ext cx="1755648" cy="29260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34656" y="15544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80376" y="19659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IP-013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MagStack Protocol Stack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580376" y="22585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IP-017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Emotional AI Trajectory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580376" y="255117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IP-026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Lightweight Telemetry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580376" y="284378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IP-027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A/B Firmware Update + TPM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580376" y="313639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IP-028</a:t>
            </a:r>
            <a:pPr indent="0" marL="0">
              <a:buNone/>
            </a:pPr>
            <a:r>
              <a:rPr lang="en-US" sz="850" dirty="0">
                <a:solidFill>
                  <a:srgbClr val="FAFAFA"/>
                </a:solidFill>
              </a:rPr>
              <a:t>  Edge-Cloud CRDT Sync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65760" y="4434840"/>
            <a:ext cx="54864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" y="44348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</a:t>
            </a:r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the consolidated provisional, secure priority date, begin counsel review for conversion strategy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4937760"/>
            <a:ext cx="3657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THOX.AI LLC  ·  CONFIDENTIAL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680960" y="4937760"/>
            <a:ext cx="10972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Thox.ai Patent Portfolio Investor Overview</dc:title>
  <dc:subject>32-invention consolidated provisional patent portfolio summary</dc:subject>
  <dc:creator>Thox.ai LLC</dc:creator>
  <cp:lastModifiedBy>Thox.ai LLC</cp:lastModifiedBy>
  <cp:revision>1</cp:revision>
  <dcterms:created xsi:type="dcterms:W3CDTF">2026-05-13T15:04:50Z</dcterms:created>
  <dcterms:modified xsi:type="dcterms:W3CDTF">2026-05-13T15:04:50Z</dcterms:modified>
</cp:coreProperties>
</file>