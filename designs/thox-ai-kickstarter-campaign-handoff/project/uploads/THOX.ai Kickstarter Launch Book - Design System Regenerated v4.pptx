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Inter"/>
      <p:regular r:id="rId21"/>
      <p:bold r:id="rId22"/>
      <p:italic r:id="rId23"/>
      <p:boldItalic r:id="rId24"/>
    </p:embeddedFont>
    <p:embeddedFont>
      <p:font typeface="JetBrains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JetBrainsMono-bold.fntdata"/><Relationship Id="rId25" Type="http://schemas.openxmlformats.org/officeDocument/2006/relationships/font" Target="fonts/JetBrainsMono-regular.fntdata"/><Relationship Id="rId28" Type="http://schemas.openxmlformats.org/officeDocument/2006/relationships/font" Target="fonts/JetBrainsMono-boldItalic.fntdata"/><Relationship Id="rId27" Type="http://schemas.openxmlformats.org/officeDocument/2006/relationships/font" Target="fonts/JetBrains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slide_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slide_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slide_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slide_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slide_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slide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slide_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slide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slide_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slide_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slide_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slide_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slide_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slide_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slide_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slide_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slide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slide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slide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slide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slide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slide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slide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slide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slide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slide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slide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slide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270000" y="1676400"/>
            <a:ext cx="66039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00">
                <a:solidFill>
                  <a:srgbClr val="FAFAFA"/>
                </a:solidFill>
                <a:latin typeface="Xolonium"/>
                <a:ea typeface="Xolonium"/>
                <a:cs typeface="Xolonium"/>
                <a:sym typeface="Xolonium"/>
              </a:rPr>
              <a:t>THOX.ai</a:t>
            </a:r>
            <a:endParaRPr b="1" sz="5400">
              <a:solidFill>
                <a:srgbClr val="FAFAFA"/>
              </a:solidFill>
              <a:latin typeface="Xolonium"/>
              <a:ea typeface="Xolonium"/>
              <a:cs typeface="Xolonium"/>
              <a:sym typeface="Xolonium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635000" y="2667000"/>
            <a:ext cx="7874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Your AI. Your Data. Your Rules.</a:t>
            </a:r>
            <a:endParaRPr sz="2400">
              <a:solidFill>
                <a:srgbClr val="34D39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635000" y="3632200"/>
            <a:ext cx="7874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Four privacy-first local-AI devices, one private mesh.</a:t>
            </a:r>
            <a:endParaRPr sz="1200">
              <a:solidFill>
                <a:srgbClr val="A1A1A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571500" y="355600"/>
            <a:ext cx="1524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AFAFA"/>
                </a:solidFill>
                <a:latin typeface="Xolonium"/>
                <a:ea typeface="Xolonium"/>
                <a:cs typeface="Xolonium"/>
                <a:sym typeface="Xolonium"/>
              </a:rPr>
              <a:t>THOX.ai</a:t>
            </a:r>
            <a:endParaRPr b="1">
              <a:solidFill>
                <a:srgbClr val="FAFAFA"/>
              </a:solidFill>
              <a:latin typeface="Xolonium"/>
              <a:ea typeface="Xolonium"/>
              <a:cs typeface="Xolonium"/>
              <a:sym typeface="Xolonium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571500" y="787400"/>
            <a:ext cx="3302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THE FUTURE OF PERSONAL AI</a:t>
            </a:r>
            <a:endParaRPr b="1" sz="800">
              <a:solidFill>
                <a:srgbClr val="10B98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571500" y="1206500"/>
            <a:ext cx="77469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FAFAFA"/>
                </a:solidFill>
                <a:latin typeface="Xolonium"/>
                <a:ea typeface="Xolonium"/>
                <a:cs typeface="Xolonium"/>
                <a:sym typeface="Xolonium"/>
              </a:rPr>
              <a:t>Artificial intelligence should belong to the people using it.</a:t>
            </a:r>
            <a:endParaRPr b="1" sz="2800">
              <a:solidFill>
                <a:srgbClr val="FAFAFA"/>
              </a:solidFill>
              <a:latin typeface="Xolonium"/>
              <a:ea typeface="Xolonium"/>
              <a:cs typeface="Xolonium"/>
              <a:sym typeface="Xolonium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609600" y="2514600"/>
            <a:ext cx="59691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AI is changing how we work, learn, create, and build businesses.</a:t>
            </a:r>
            <a:endParaRPr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But most AI still belongs to someone else. Your conversations, documents, research, code, and ideas leave your devices and live in someone else's cloud.</a:t>
            </a:r>
            <a:endParaRPr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THOX.ai exists to change that.</a:t>
            </a:r>
            <a:endParaRPr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5207000" y="3530600"/>
            <a:ext cx="3174900" cy="812700"/>
          </a:xfrm>
          <a:prstGeom prst="roundRect">
            <a:avLst>
              <a:gd fmla="val 16667" name="adj"/>
            </a:avLst>
          </a:prstGeom>
          <a:solidFill>
            <a:srgbClr val="18181B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5384800" y="3733800"/>
            <a:ext cx="2819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AFAFA"/>
                </a:solidFill>
                <a:latin typeface="Xolonium"/>
                <a:ea typeface="Xolonium"/>
                <a:cs typeface="Xolonium"/>
                <a:sym typeface="Xolonium"/>
              </a:rPr>
              <a:t>Your AI. Your Data. Your Rules.</a:t>
            </a:r>
            <a:endParaRPr b="1">
              <a:solidFill>
                <a:srgbClr val="FAFAFA"/>
              </a:solidFill>
              <a:latin typeface="Xolonium"/>
              <a:ea typeface="Xolonium"/>
              <a:cs typeface="Xolonium"/>
              <a:sym typeface="Xolon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/>
        </p:nvSpPr>
        <p:spPr>
          <a:xfrm>
            <a:off x="571500" y="355600"/>
            <a:ext cx="1524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AFAFA"/>
                </a:solidFill>
                <a:latin typeface="Xolonium"/>
                <a:ea typeface="Xolonium"/>
                <a:cs typeface="Xolonium"/>
                <a:sym typeface="Xolonium"/>
              </a:rPr>
              <a:t>THOX.ai</a:t>
            </a:r>
            <a:endParaRPr b="1">
              <a:solidFill>
                <a:srgbClr val="FAFAFA"/>
              </a:solidFill>
              <a:latin typeface="Xolonium"/>
              <a:ea typeface="Xolonium"/>
              <a:cs typeface="Xolonium"/>
              <a:sym typeface="Xolonium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571500" y="990600"/>
            <a:ext cx="76200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AFAFA"/>
                </a:solidFill>
                <a:latin typeface="Xolonium"/>
                <a:ea typeface="Xolonium"/>
                <a:cs typeface="Xolonium"/>
                <a:sym typeface="Xolonium"/>
              </a:rPr>
              <a:t>Kickstarter launch facts</a:t>
            </a:r>
            <a:endParaRPr b="1" sz="3200">
              <a:solidFill>
                <a:srgbClr val="FAFAFA"/>
              </a:solidFill>
              <a:latin typeface="Xolonium"/>
              <a:ea typeface="Xolonium"/>
              <a:cs typeface="Xolonium"/>
              <a:sym typeface="Xolonium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698500" y="2006600"/>
            <a:ext cx="3429000" cy="1041300"/>
          </a:xfrm>
          <a:prstGeom prst="roundRect">
            <a:avLst>
              <a:gd fmla="val 16667" name="adj"/>
            </a:avLst>
          </a:prstGeom>
          <a:solidFill>
            <a:srgbClr val="18181B"/>
          </a:solidFill>
          <a:ln cap="flat" cmpd="sng" w="12700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927100" y="2260600"/>
            <a:ext cx="29844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LAUNCH</a:t>
            </a:r>
            <a:endParaRPr sz="1100">
              <a:solidFill>
                <a:srgbClr val="FAFAFA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Thursday, July 9, 2026</a:t>
            </a:r>
            <a:endParaRPr sz="1100">
              <a:solidFill>
                <a:srgbClr val="FAFAFA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9:00 AM PT</a:t>
            </a:r>
            <a:endParaRPr sz="1100">
              <a:solidFill>
                <a:srgbClr val="FAFAFA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5016500" y="2006600"/>
            <a:ext cx="3429000" cy="1041300"/>
          </a:xfrm>
          <a:prstGeom prst="roundRect">
            <a:avLst>
              <a:gd fmla="val 16667" name="adj"/>
            </a:avLst>
          </a:prstGeom>
          <a:solidFill>
            <a:srgbClr val="18181B"/>
          </a:solidFill>
          <a:ln cap="flat" cmpd="sng" w="12700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5245100" y="2260600"/>
            <a:ext cx="29844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CLOSE</a:t>
            </a:r>
            <a:endParaRPr sz="1100">
              <a:solidFill>
                <a:srgbClr val="FAFAFA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Saturday, August 8, 2026</a:t>
            </a:r>
            <a:endParaRPr sz="1100">
              <a:solidFill>
                <a:srgbClr val="FAFAFA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9:00 AM PT</a:t>
            </a:r>
            <a:endParaRPr sz="1100">
              <a:solidFill>
                <a:srgbClr val="FAFAFA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698500" y="3581400"/>
            <a:ext cx="7746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All-or-nothing Kickstarter for four privacy-first local-AI devices and one private mesh. Public hardware SKUs: ThoxKey, ThoxMini, ThoxMini Air, and ThoxClip.</a:t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/>
        </p:nvSpPr>
        <p:spPr>
          <a:xfrm>
            <a:off x="571500" y="355600"/>
            <a:ext cx="1524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AFAFA"/>
                </a:solidFill>
                <a:latin typeface="Xolonium"/>
                <a:ea typeface="Xolonium"/>
                <a:cs typeface="Xolonium"/>
                <a:sym typeface="Xolonium"/>
              </a:rPr>
              <a:t>THOX.ai</a:t>
            </a:r>
            <a:endParaRPr b="1">
              <a:solidFill>
                <a:srgbClr val="FAFAFA"/>
              </a:solidFill>
              <a:latin typeface="Xolonium"/>
              <a:ea typeface="Xolonium"/>
              <a:cs typeface="Xolonium"/>
              <a:sym typeface="Xolonium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571500" y="825500"/>
            <a:ext cx="76200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FAFAFA"/>
                </a:solidFill>
                <a:latin typeface="Xolonium"/>
                <a:ea typeface="Xolonium"/>
                <a:cs typeface="Xolonium"/>
                <a:sym typeface="Xolonium"/>
              </a:rPr>
              <a:t>Built on trusted technology</a:t>
            </a:r>
            <a:endParaRPr b="1" sz="3100">
              <a:solidFill>
                <a:srgbClr val="FAFAFA"/>
              </a:solidFill>
              <a:latin typeface="Xolonium"/>
              <a:ea typeface="Xolonium"/>
              <a:cs typeface="Xolonium"/>
              <a:sym typeface="Xolonium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609600" y="1435100"/>
            <a:ext cx="736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Industry ecosystem support, American manufacturing ownership, and a privacy-first local-AI architecture.</a:t>
            </a:r>
            <a:endParaRPr sz="1300">
              <a:solidFill>
                <a:srgbClr val="A1A1A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571500" y="2095500"/>
            <a:ext cx="2412900" cy="1587600"/>
          </a:xfrm>
          <a:prstGeom prst="roundRect">
            <a:avLst>
              <a:gd fmla="val 16667" name="adj"/>
            </a:avLst>
          </a:prstGeom>
          <a:solidFill>
            <a:srgbClr val="18181B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3365500" y="2095500"/>
            <a:ext cx="2412900" cy="1587600"/>
          </a:xfrm>
          <a:prstGeom prst="roundRect">
            <a:avLst>
              <a:gd fmla="val 16667" name="adj"/>
            </a:avLst>
          </a:prstGeom>
          <a:solidFill>
            <a:srgbClr val="18181B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6159500" y="2095500"/>
            <a:ext cx="2412900" cy="1587600"/>
          </a:xfrm>
          <a:prstGeom prst="roundRect">
            <a:avLst>
              <a:gd fmla="val 16667" name="adj"/>
            </a:avLst>
          </a:prstGeom>
          <a:solidFill>
            <a:srgbClr val="18181B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762000" y="3149600"/>
            <a:ext cx="2031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NVIDIA Inception Partner</a:t>
            </a:r>
            <a:endParaRPr b="1" sz="12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3556000" y="3149600"/>
            <a:ext cx="2031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Intel Partner</a:t>
            </a:r>
            <a:endParaRPr b="1" sz="12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6350000" y="3048000"/>
            <a:ext cx="20319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Manufactured by</a:t>
            </a:r>
            <a:endParaRPr b="1" sz="12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THOX.ai LLC</a:t>
            </a:r>
            <a:endParaRPr b="1" sz="12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698500" y="4089400"/>
            <a:ext cx="7746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Trusted technology. Transparent manufacturing language. Privacy-first by design.</a:t>
            </a:r>
            <a:endParaRPr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762000" y="2413000"/>
            <a:ext cx="2031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34D399"/>
                </a:solidFill>
                <a:latin typeface="Xolonium"/>
                <a:ea typeface="Xolonium"/>
                <a:cs typeface="Xolonium"/>
                <a:sym typeface="Xolonium"/>
              </a:rPr>
              <a:t>NVIDIA</a:t>
            </a:r>
            <a:endParaRPr b="1" sz="2000">
              <a:solidFill>
                <a:srgbClr val="34D399"/>
              </a:solidFill>
              <a:latin typeface="Xolonium"/>
              <a:ea typeface="Xolonium"/>
              <a:cs typeface="Xolonium"/>
              <a:sym typeface="Xolon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34D399"/>
                </a:solidFill>
                <a:latin typeface="Xolonium"/>
                <a:ea typeface="Xolonium"/>
                <a:cs typeface="Xolonium"/>
                <a:sym typeface="Xolonium"/>
              </a:rPr>
              <a:t>INCEPTION</a:t>
            </a:r>
            <a:endParaRPr b="1" sz="2000">
              <a:solidFill>
                <a:srgbClr val="34D399"/>
              </a:solidFill>
              <a:latin typeface="Xolonium"/>
              <a:ea typeface="Xolonium"/>
              <a:cs typeface="Xolonium"/>
              <a:sym typeface="Xolonium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3556000" y="2438400"/>
            <a:ext cx="2031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intel</a:t>
            </a:r>
            <a:endParaRPr b="1" sz="3400">
              <a:solidFill>
                <a:srgbClr val="3B82F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6921500" y="2413000"/>
            <a:ext cx="609600" cy="406500"/>
          </a:xfrm>
          <a:prstGeom prst="rect">
            <a:avLst/>
          </a:prstGeom>
          <a:solidFill>
            <a:srgbClr val="3B82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6921500" y="2413000"/>
            <a:ext cx="1143000" cy="76200"/>
          </a:xfrm>
          <a:prstGeom prst="rect">
            <a:avLst/>
          </a:prstGeom>
          <a:solidFill>
            <a:srgbClr val="EF444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6921500" y="2590800"/>
            <a:ext cx="1143000" cy="76200"/>
          </a:xfrm>
          <a:prstGeom prst="rect">
            <a:avLst/>
          </a:prstGeom>
          <a:solidFill>
            <a:srgbClr val="EF444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6921500" y="2768600"/>
            <a:ext cx="1143000" cy="76200"/>
          </a:xfrm>
          <a:prstGeom prst="rect">
            <a:avLst/>
          </a:prstGeom>
          <a:solidFill>
            <a:srgbClr val="EF444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6921500" y="2946400"/>
            <a:ext cx="1143000" cy="76200"/>
          </a:xfrm>
          <a:prstGeom prst="rect">
            <a:avLst/>
          </a:prstGeom>
          <a:solidFill>
            <a:srgbClr val="EF444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/>
        </p:nvSpPr>
        <p:spPr>
          <a:xfrm>
            <a:off x="571500" y="355600"/>
            <a:ext cx="1524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AFAFA"/>
                </a:solidFill>
                <a:latin typeface="Xolonium"/>
                <a:ea typeface="Xolonium"/>
                <a:cs typeface="Xolonium"/>
                <a:sym typeface="Xolonium"/>
              </a:rPr>
              <a:t>THOX.ai</a:t>
            </a:r>
            <a:endParaRPr b="1">
              <a:solidFill>
                <a:srgbClr val="FAFAFA"/>
              </a:solidFill>
              <a:latin typeface="Xolonium"/>
              <a:ea typeface="Xolonium"/>
              <a:cs typeface="Xolonium"/>
              <a:sym typeface="Xolonium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571500" y="952500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AFAFA"/>
                </a:solidFill>
                <a:latin typeface="Xolonium"/>
                <a:ea typeface="Xolonium"/>
                <a:cs typeface="Xolonium"/>
                <a:sym typeface="Xolonium"/>
              </a:rPr>
              <a:t>Kickstarter scope is locked</a:t>
            </a:r>
            <a:endParaRPr b="1" sz="3200">
              <a:solidFill>
                <a:srgbClr val="FAFAFA"/>
              </a:solidFill>
              <a:latin typeface="Xolonium"/>
              <a:ea typeface="Xolonium"/>
              <a:cs typeface="Xolonium"/>
              <a:sym typeface="Xolonium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609600" y="1651000"/>
            <a:ext cx="7746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Public hardware rewards are ThoxKey, ThoxMini, ThoxMini Air, and ThoxClip. MeshStack is companion software. MeshStack Pro is included for 12 months with every hardware pledge.</a:t>
            </a:r>
            <a:endParaRPr sz="1300">
              <a:solidFill>
                <a:srgbClr val="A1A1A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698500" y="2667000"/>
            <a:ext cx="77469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ThoxKey        Ultra-portable Personal AI</a:t>
            </a:r>
            <a:endParaRPr sz="1300">
              <a:solidFill>
                <a:srgbClr val="FAFAFA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ThoxMini       Dedicated Personal AI workspace</a:t>
            </a:r>
            <a:endParaRPr sz="1300">
              <a:solidFill>
                <a:srgbClr val="FAFAFA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ThoxMini Air   Portable Personal AI for work in motion</a:t>
            </a:r>
            <a:endParaRPr sz="1300">
              <a:solidFill>
                <a:srgbClr val="FAFAFA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ThoxClip       AI capture for moments away from the desk</a:t>
            </a:r>
            <a:endParaRPr sz="1300">
              <a:solidFill>
                <a:srgbClr val="FAFAFA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MeshStack      One private mesh across compatible devices</a:t>
            </a:r>
            <a:endParaRPr sz="1300">
              <a:solidFill>
                <a:srgbClr val="FAFAFA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/>
        </p:nvSpPr>
        <p:spPr>
          <a:xfrm>
            <a:off x="571500" y="355600"/>
            <a:ext cx="1524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AFAFA"/>
                </a:solidFill>
                <a:latin typeface="Xolonium"/>
                <a:ea typeface="Xolonium"/>
                <a:cs typeface="Xolonium"/>
                <a:sym typeface="Xolonium"/>
              </a:rPr>
              <a:t>THOX.ai</a:t>
            </a:r>
            <a:endParaRPr b="1">
              <a:solidFill>
                <a:srgbClr val="FAFAFA"/>
              </a:solidFill>
              <a:latin typeface="Xolonium"/>
              <a:ea typeface="Xolonium"/>
              <a:cs typeface="Xolonium"/>
              <a:sym typeface="Xolonium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571500" y="1041400"/>
            <a:ext cx="7746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AFAFA"/>
                </a:solidFill>
                <a:latin typeface="Xolonium"/>
                <a:ea typeface="Xolonium"/>
                <a:cs typeface="Xolonium"/>
                <a:sym typeface="Xolonium"/>
              </a:rPr>
              <a:t>Your AI should not leave your desk.</a:t>
            </a:r>
            <a:endParaRPr b="1" sz="3200">
              <a:solidFill>
                <a:srgbClr val="FAFAFA"/>
              </a:solidFill>
              <a:latin typeface="Xolonium"/>
              <a:ea typeface="Xolonium"/>
              <a:cs typeface="Xolonium"/>
              <a:sym typeface="Xolonium"/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635000" y="2159000"/>
            <a:ext cx="67311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Cloud AI is useful, but it is not appropriate for every workflow.</a:t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Doctors, lawyers, financial advisors, engineers, researchers, educators, and teams handling sensitive work need AI that keeps control close.</a:t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THOX.ai is built for privacy-first local AI where data stays on your devices.</a:t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/>
        </p:nvSpPr>
        <p:spPr>
          <a:xfrm>
            <a:off x="571500" y="355600"/>
            <a:ext cx="1524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AFAFA"/>
                </a:solidFill>
                <a:latin typeface="Xolonium"/>
                <a:ea typeface="Xolonium"/>
                <a:cs typeface="Xolonium"/>
                <a:sym typeface="Xolonium"/>
              </a:rPr>
              <a:t>THOX.ai</a:t>
            </a:r>
            <a:endParaRPr b="1">
              <a:solidFill>
                <a:srgbClr val="FAFAFA"/>
              </a:solidFill>
              <a:latin typeface="Xolonium"/>
              <a:ea typeface="Xolonium"/>
              <a:cs typeface="Xolonium"/>
              <a:sym typeface="Xolonium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571500" y="952500"/>
            <a:ext cx="77469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AFAFA"/>
                </a:solidFill>
                <a:latin typeface="Xolonium"/>
                <a:ea typeface="Xolonium"/>
                <a:cs typeface="Xolonium"/>
                <a:sym typeface="Xolonium"/>
              </a:rPr>
              <a:t>Proof-safe privacy language</a:t>
            </a:r>
            <a:endParaRPr b="1" sz="3200">
              <a:solidFill>
                <a:srgbClr val="FAFAFA"/>
              </a:solidFill>
              <a:latin typeface="Xolonium"/>
              <a:ea typeface="Xolonium"/>
              <a:cs typeface="Xolonium"/>
              <a:sym typeface="Xolonium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698500" y="2032000"/>
            <a:ext cx="77469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 stays on your devices</a:t>
            </a:r>
            <a:endParaRPr sz="1800">
              <a:solidFill>
                <a:srgbClr val="34D39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works offline on LAN after pairing</a:t>
            </a:r>
            <a:endParaRPr sz="1800">
              <a:solidFill>
                <a:srgbClr val="34D39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uses the WireGuard protocol</a:t>
            </a:r>
            <a:endParaRPr sz="1800">
              <a:solidFill>
                <a:srgbClr val="34D39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coordinator never sees plaintext</a:t>
            </a:r>
            <a:endParaRPr sz="1800">
              <a:solidFill>
                <a:srgbClr val="34D39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698500" y="4089400"/>
            <a:ext cx="7112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A1A1AA"/>
                </a:solidFill>
                <a:latin typeface="Inter"/>
                <a:ea typeface="Inter"/>
                <a:cs typeface="Inter"/>
                <a:sym typeface="Inter"/>
              </a:rPr>
              <a:t>No unheld certification claims. No hard performance numbers. No part-level disclosures.</a:t>
            </a:r>
            <a:endParaRPr sz="1300">
              <a:solidFill>
                <a:srgbClr val="A1A1A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/>
        </p:nvSpPr>
        <p:spPr>
          <a:xfrm>
            <a:off x="571500" y="355600"/>
            <a:ext cx="1524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AFAFA"/>
                </a:solidFill>
                <a:latin typeface="Xolonium"/>
                <a:ea typeface="Xolonium"/>
                <a:cs typeface="Xolonium"/>
                <a:sym typeface="Xolonium"/>
              </a:rPr>
              <a:t>THOX.ai</a:t>
            </a:r>
            <a:endParaRPr b="1">
              <a:solidFill>
                <a:srgbClr val="FAFAFA"/>
              </a:solidFill>
              <a:latin typeface="Xolonium"/>
              <a:ea typeface="Xolonium"/>
              <a:cs typeface="Xolonium"/>
              <a:sym typeface="Xolonium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571500" y="889000"/>
            <a:ext cx="77469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AFAFA"/>
                </a:solidFill>
                <a:latin typeface="Xolonium"/>
                <a:ea typeface="Xolonium"/>
                <a:cs typeface="Xolonium"/>
                <a:sym typeface="Xolonium"/>
              </a:rPr>
              <a:t>MeshStack: one private mesh</a:t>
            </a:r>
            <a:endParaRPr b="1" sz="3200">
              <a:solidFill>
                <a:srgbClr val="FAFAFA"/>
              </a:solidFill>
              <a:latin typeface="Xolonium"/>
              <a:ea typeface="Xolonium"/>
              <a:cs typeface="Xolonium"/>
              <a:sym typeface="Xolonium"/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635000" y="1905000"/>
            <a:ext cx="7112100" cy="18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MeshStack is companion software for the THOX ecosystem.</a:t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It helps compatible THOX devices work together as one private mesh while keeping the public message simple: pair devices, keep data on your devices, and scale when you are ready.</a:t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MeshStack Pro is included for 12 months with every hardware pledge.</a:t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698500" y="4127500"/>
            <a:ext cx="71121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Not a public cloud claim. Not a central-server claim. A private mesh message.</a:t>
            </a:r>
            <a:endParaRPr sz="1100">
              <a:solidFill>
                <a:srgbClr val="34D39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/>
        </p:nvSpPr>
        <p:spPr>
          <a:xfrm>
            <a:off x="571500" y="355600"/>
            <a:ext cx="1524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AFAFA"/>
                </a:solidFill>
                <a:latin typeface="Xolonium"/>
                <a:ea typeface="Xolonium"/>
                <a:cs typeface="Xolonium"/>
                <a:sym typeface="Xolonium"/>
              </a:rPr>
              <a:t>THOX.ai</a:t>
            </a:r>
            <a:endParaRPr b="1">
              <a:solidFill>
                <a:srgbClr val="FAFAFA"/>
              </a:solidFill>
              <a:latin typeface="Xolonium"/>
              <a:ea typeface="Xolonium"/>
              <a:cs typeface="Xolonium"/>
              <a:sym typeface="Xolonium"/>
            </a:endParaRPr>
          </a:p>
        </p:txBody>
      </p:sp>
      <p:sp>
        <p:nvSpPr>
          <p:cNvPr id="135" name="Google Shape;135;p21"/>
          <p:cNvSpPr txBox="1"/>
          <p:nvPr/>
        </p:nvSpPr>
        <p:spPr>
          <a:xfrm>
            <a:off x="571500" y="889000"/>
            <a:ext cx="77469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AFAFA"/>
                </a:solidFill>
                <a:latin typeface="Xolonium"/>
                <a:ea typeface="Xolonium"/>
                <a:cs typeface="Xolonium"/>
                <a:sym typeface="Xolonium"/>
              </a:rPr>
              <a:t>One ecosystem. Four entry points.</a:t>
            </a:r>
            <a:endParaRPr b="1" sz="3200">
              <a:solidFill>
                <a:srgbClr val="FAFAFA"/>
              </a:solidFill>
              <a:latin typeface="Xolonium"/>
              <a:ea typeface="Xolonium"/>
              <a:cs typeface="Xolonium"/>
              <a:sym typeface="Xolonium"/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698500" y="2006600"/>
            <a:ext cx="7874100" cy="18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ThoxKey       Ultra-portable Personal AI</a:t>
            </a:r>
            <a:endParaRPr sz="1600">
              <a:solidFill>
                <a:srgbClr val="FAFAFA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ThoxMini      Dedicated Personal AI workspace</a:t>
            </a:r>
            <a:endParaRPr sz="1600">
              <a:solidFill>
                <a:srgbClr val="FAFAFA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ThoxMini Air  Portable Personal AI for work in motion</a:t>
            </a:r>
            <a:endParaRPr sz="1600">
              <a:solidFill>
                <a:srgbClr val="FAFAFA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AFA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ThoxClip      AI that stays close when ideas happen</a:t>
            </a:r>
            <a:endParaRPr sz="1600">
              <a:solidFill>
                <a:srgbClr val="FAFAFA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698500" y="4064000"/>
            <a:ext cx="7365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Start with the device that fits your workflow. Add more when your needs grow.</a:t>
            </a:r>
            <a:endParaRPr sz="1500">
              <a:solidFill>
                <a:srgbClr val="34D39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/>
        </p:nvSpPr>
        <p:spPr>
          <a:xfrm>
            <a:off x="571500" y="355600"/>
            <a:ext cx="1524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AFAFA"/>
                </a:solidFill>
                <a:latin typeface="Xolonium"/>
                <a:ea typeface="Xolonium"/>
                <a:cs typeface="Xolonium"/>
                <a:sym typeface="Xolonium"/>
              </a:rPr>
              <a:t>THOX.ai</a:t>
            </a:r>
            <a:endParaRPr b="1">
              <a:solidFill>
                <a:srgbClr val="FAFAFA"/>
              </a:solidFill>
              <a:latin typeface="Xolonium"/>
              <a:ea typeface="Xolonium"/>
              <a:cs typeface="Xolonium"/>
              <a:sym typeface="Xolonium"/>
            </a:endParaRPr>
          </a:p>
        </p:txBody>
      </p:sp>
      <p:sp>
        <p:nvSpPr>
          <p:cNvPr id="143" name="Google Shape;143;p22"/>
          <p:cNvSpPr txBox="1"/>
          <p:nvPr/>
        </p:nvSpPr>
        <p:spPr>
          <a:xfrm>
            <a:off x="571500" y="889000"/>
            <a:ext cx="77469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AFAFA"/>
                </a:solidFill>
                <a:latin typeface="Xolonium"/>
                <a:ea typeface="Xolonium"/>
                <a:cs typeface="Xolonium"/>
                <a:sym typeface="Xolonium"/>
              </a:rPr>
              <a:t>ThoxKey: Personal AI, pocket sized</a:t>
            </a:r>
            <a:endParaRPr b="1" sz="3000">
              <a:solidFill>
                <a:srgbClr val="FAFAFA"/>
              </a:solidFill>
              <a:latin typeface="Xolonium"/>
              <a:ea typeface="Xolonium"/>
              <a:cs typeface="Xolonium"/>
              <a:sym typeface="Xolonium"/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635000" y="1905000"/>
            <a:ext cx="71754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ThoxKey is the ultra-portable entry point into the THOX ecosystem.</a:t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It is designed for students, travelers, developers, consultants, IT professionals, and everyday users who want their Personal AI environment available wherever they go.</a:t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Small device. Private workflow. Part of the larger THOX mesh.</a:t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/>
        </p:nvSpPr>
        <p:spPr>
          <a:xfrm>
            <a:off x="571500" y="355600"/>
            <a:ext cx="1524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AFAFA"/>
                </a:solidFill>
                <a:latin typeface="Xolonium"/>
                <a:ea typeface="Xolonium"/>
                <a:cs typeface="Xolonium"/>
                <a:sym typeface="Xolonium"/>
              </a:rPr>
              <a:t>THOX.ai</a:t>
            </a:r>
            <a:endParaRPr b="1">
              <a:solidFill>
                <a:srgbClr val="FAFAFA"/>
              </a:solidFill>
              <a:latin typeface="Xolonium"/>
              <a:ea typeface="Xolonium"/>
              <a:cs typeface="Xolonium"/>
              <a:sym typeface="Xolonium"/>
            </a:endParaRPr>
          </a:p>
        </p:txBody>
      </p:sp>
      <p:sp>
        <p:nvSpPr>
          <p:cNvPr id="150" name="Google Shape;150;p23"/>
          <p:cNvSpPr txBox="1"/>
          <p:nvPr/>
        </p:nvSpPr>
        <p:spPr>
          <a:xfrm>
            <a:off x="571500" y="889000"/>
            <a:ext cx="77469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AFAFA"/>
                </a:solidFill>
                <a:latin typeface="Xolonium"/>
                <a:ea typeface="Xolonium"/>
                <a:cs typeface="Xolonium"/>
                <a:sym typeface="Xolonium"/>
              </a:rPr>
              <a:t>ThoxMini: your dedicated AI workspace</a:t>
            </a:r>
            <a:endParaRPr b="1" sz="3000">
              <a:solidFill>
                <a:srgbClr val="FAFAFA"/>
              </a:solidFill>
              <a:latin typeface="Xolonium"/>
              <a:ea typeface="Xolonium"/>
              <a:cs typeface="Xolonium"/>
              <a:sym typeface="Xolonium"/>
            </a:endParaRPr>
          </a:p>
        </p:txBody>
      </p:sp>
      <p:sp>
        <p:nvSpPr>
          <p:cNvPr id="151" name="Google Shape;151;p23"/>
          <p:cNvSpPr txBox="1"/>
          <p:nvPr/>
        </p:nvSpPr>
        <p:spPr>
          <a:xfrm>
            <a:off x="635000" y="1905000"/>
            <a:ext cx="72390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ThoxMini is designed for people who use AI every day.</a:t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It becomes the center of a privacy-first Personal AI setup for writing, coding, research, document work, analysis, and creative workflows.</a:t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Compact workspace. Local control. Built to grow with MeshStack.</a:t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/>
        </p:nvSpPr>
        <p:spPr>
          <a:xfrm>
            <a:off x="571500" y="355600"/>
            <a:ext cx="1524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AFAFA"/>
                </a:solidFill>
                <a:latin typeface="Xolonium"/>
                <a:ea typeface="Xolonium"/>
                <a:cs typeface="Xolonium"/>
                <a:sym typeface="Xolonium"/>
              </a:rPr>
              <a:t>THOX.ai</a:t>
            </a:r>
            <a:endParaRPr b="1">
              <a:solidFill>
                <a:srgbClr val="FAFAFA"/>
              </a:solidFill>
              <a:latin typeface="Xolonium"/>
              <a:ea typeface="Xolonium"/>
              <a:cs typeface="Xolonium"/>
              <a:sym typeface="Xolonium"/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571500" y="889000"/>
            <a:ext cx="77469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AFAFA"/>
                </a:solidFill>
                <a:latin typeface="Xolonium"/>
                <a:ea typeface="Xolonium"/>
                <a:cs typeface="Xolonium"/>
                <a:sym typeface="Xolonium"/>
              </a:rPr>
              <a:t>ThoxMini Air: work in motion</a:t>
            </a:r>
            <a:endParaRPr b="1" sz="3000">
              <a:solidFill>
                <a:srgbClr val="FAFAFA"/>
              </a:solidFill>
              <a:latin typeface="Xolonium"/>
              <a:ea typeface="Xolonium"/>
              <a:cs typeface="Xolonium"/>
              <a:sym typeface="Xolonium"/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635000" y="1905000"/>
            <a:ext cx="72390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ThoxMini Air is portable Personal AI for people whose workspace changes.</a:t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Remote workers, students, consultants, field professionals, creators, and travelers can keep their THOX workflow close without making the desk the only place work happens.</a:t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Portable. Familiar. Part of the same private mesh.</a:t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/>
        </p:nvSpPr>
        <p:spPr>
          <a:xfrm>
            <a:off x="571500" y="355600"/>
            <a:ext cx="1524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AFAFA"/>
                </a:solidFill>
                <a:latin typeface="Xolonium"/>
                <a:ea typeface="Xolonium"/>
                <a:cs typeface="Xolonium"/>
                <a:sym typeface="Xolonium"/>
              </a:rPr>
              <a:t>THOX.ai</a:t>
            </a:r>
            <a:endParaRPr b="1">
              <a:solidFill>
                <a:srgbClr val="FAFAFA"/>
              </a:solidFill>
              <a:latin typeface="Xolonium"/>
              <a:ea typeface="Xolonium"/>
              <a:cs typeface="Xolonium"/>
              <a:sym typeface="Xolonium"/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571500" y="889000"/>
            <a:ext cx="77469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AFAFA"/>
                </a:solidFill>
                <a:latin typeface="Xolonium"/>
                <a:ea typeface="Xolonium"/>
                <a:cs typeface="Xolonium"/>
                <a:sym typeface="Xolonium"/>
              </a:rPr>
              <a:t>ThoxClip: capture every thought</a:t>
            </a:r>
            <a:endParaRPr b="1" sz="3000">
              <a:solidFill>
                <a:srgbClr val="FAFAFA"/>
              </a:solidFill>
              <a:latin typeface="Xolonium"/>
              <a:ea typeface="Xolonium"/>
              <a:cs typeface="Xolonium"/>
              <a:sym typeface="Xolonium"/>
            </a:endParaRPr>
          </a:p>
        </p:txBody>
      </p:sp>
      <p:sp>
        <p:nvSpPr>
          <p:cNvPr id="165" name="Google Shape;165;p25"/>
          <p:cNvSpPr txBox="1"/>
          <p:nvPr/>
        </p:nvSpPr>
        <p:spPr>
          <a:xfrm>
            <a:off x="635000" y="1905000"/>
            <a:ext cx="72390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ThoxClip keeps Personal AI close for moments away from the keyboard.</a:t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Meetings, site visits, travel, classrooms, trade shows, and daily work create information at the edges of the day. ThoxClip is designed for those moments.</a:t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Close at hand. Connected to the ecosystem. Built for real life.</a:t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/>
        </p:nvSpPr>
        <p:spPr>
          <a:xfrm>
            <a:off x="571500" y="355600"/>
            <a:ext cx="1524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AFAFA"/>
                </a:solidFill>
                <a:latin typeface="Xolonium"/>
                <a:ea typeface="Xolonium"/>
                <a:cs typeface="Xolonium"/>
                <a:sym typeface="Xolonium"/>
              </a:rPr>
              <a:t>THOX.ai</a:t>
            </a:r>
            <a:endParaRPr b="1">
              <a:solidFill>
                <a:srgbClr val="FAFAFA"/>
              </a:solidFill>
              <a:latin typeface="Xolonium"/>
              <a:ea typeface="Xolonium"/>
              <a:cs typeface="Xolonium"/>
              <a:sym typeface="Xolonium"/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571500" y="889000"/>
            <a:ext cx="77469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FAFAFA"/>
                </a:solidFill>
                <a:latin typeface="Xolonium"/>
                <a:ea typeface="Xolonium"/>
                <a:cs typeface="Xolonium"/>
                <a:sym typeface="Xolonium"/>
              </a:rPr>
              <a:t>BackerKit handles the details</a:t>
            </a:r>
            <a:endParaRPr b="1" sz="3100">
              <a:solidFill>
                <a:srgbClr val="FAFAFA"/>
              </a:solidFill>
              <a:latin typeface="Xolonium"/>
              <a:ea typeface="Xolonium"/>
              <a:cs typeface="Xolonium"/>
              <a:sym typeface="Xolonium"/>
            </a:endParaRPr>
          </a:p>
        </p:txBody>
      </p:sp>
      <p:sp>
        <p:nvSpPr>
          <p:cNvPr id="172" name="Google Shape;172;p26"/>
          <p:cNvSpPr txBox="1"/>
          <p:nvPr/>
        </p:nvSpPr>
        <p:spPr>
          <a:xfrm>
            <a:off x="635000" y="1905000"/>
            <a:ext cx="7239000" cy="20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After the campaign, BackerKit handles surveys, add-ons, shipping, and VAT.</a:t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This keeps Kickstarter clean, keeps fulfillment organized, and gives backers a clear post-campaign path to confirm rewards and add accessories.</a:t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No unapproved pricing belongs in this deck.</a:t>
            </a:r>
            <a:endParaRPr sz="1500">
              <a:solidFill>
                <a:srgbClr val="FAFAF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698500" y="4127500"/>
            <a:ext cx="7112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Surveys. Add-ons. Shipping. VAT. Fulfillment waves.</a:t>
            </a:r>
            <a:endParaRPr sz="1200">
              <a:solidFill>
                <a:srgbClr val="34D39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/>
        </p:nvSpPr>
        <p:spPr>
          <a:xfrm>
            <a:off x="1270000" y="889000"/>
            <a:ext cx="66039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00">
                <a:solidFill>
                  <a:srgbClr val="FAFAFA"/>
                </a:solidFill>
                <a:latin typeface="Xolonium"/>
                <a:ea typeface="Xolonium"/>
                <a:cs typeface="Xolonium"/>
                <a:sym typeface="Xolonium"/>
              </a:rPr>
              <a:t>THOX.ai</a:t>
            </a:r>
            <a:endParaRPr b="1" sz="5400">
              <a:solidFill>
                <a:srgbClr val="FAFAFA"/>
              </a:solidFill>
              <a:latin typeface="Xolonium"/>
              <a:ea typeface="Xolonium"/>
              <a:cs typeface="Xolonium"/>
              <a:sym typeface="Xolonium"/>
            </a:endParaRPr>
          </a:p>
        </p:txBody>
      </p:sp>
      <p:sp>
        <p:nvSpPr>
          <p:cNvPr id="179" name="Google Shape;179;p27"/>
          <p:cNvSpPr txBox="1"/>
          <p:nvPr/>
        </p:nvSpPr>
        <p:spPr>
          <a:xfrm>
            <a:off x="508000" y="2032000"/>
            <a:ext cx="81279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FAFAFA"/>
                </a:solidFill>
                <a:latin typeface="Xolonium"/>
                <a:ea typeface="Xolonium"/>
                <a:cs typeface="Xolonium"/>
                <a:sym typeface="Xolonium"/>
              </a:rPr>
              <a:t>Four privacy-first local-AI devices, one private mesh.</a:t>
            </a:r>
            <a:endParaRPr b="1" sz="2800">
              <a:solidFill>
                <a:srgbClr val="FAFAFA"/>
              </a:solidFill>
              <a:latin typeface="Xolonium"/>
              <a:ea typeface="Xolonium"/>
              <a:cs typeface="Xolonium"/>
              <a:sym typeface="Xolonium"/>
            </a:endParaRPr>
          </a:p>
        </p:txBody>
      </p:sp>
      <p:sp>
        <p:nvSpPr>
          <p:cNvPr id="180" name="Google Shape;180;p27"/>
          <p:cNvSpPr txBox="1"/>
          <p:nvPr/>
        </p:nvSpPr>
        <p:spPr>
          <a:xfrm>
            <a:off x="1016000" y="3302000"/>
            <a:ext cx="71121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A1A1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Launch: Thursday, July 9, 2026, 9:00 AM PT</a:t>
            </a:r>
            <a:endParaRPr sz="1200">
              <a:solidFill>
                <a:srgbClr val="A1A1AA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A1A1A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Close: Saturday, August 8, 2026, 9:00 AM PT</a:t>
            </a:r>
            <a:endParaRPr sz="1200">
              <a:solidFill>
                <a:srgbClr val="A1A1AA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635000" y="4381500"/>
            <a:ext cx="7874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Your AI. Your Data. Your Rules.</a:t>
            </a:r>
            <a:endParaRPr sz="2300">
              <a:solidFill>
                <a:srgbClr val="34D39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