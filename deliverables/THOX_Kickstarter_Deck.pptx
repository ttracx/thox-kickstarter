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200" y="4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0866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2801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8357" y="193431"/>
            <a:ext cx="3657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dirty="0">
                <a:solidFill>
                  <a:srgbClr val="FAFAFA"/>
                </a:solidFill>
                <a:latin typeface="Xolonium" panose="02000503000000000000" pitchFamily="2" charset="0"/>
              </a:rPr>
              <a:t>THOX.ai</a:t>
            </a:r>
          </a:p>
        </p:txBody>
      </p:sp>
      <p:sp>
        <p:nvSpPr>
          <p:cNvPr id="5" name="Oval 4"/>
          <p:cNvSpPr/>
          <p:nvPr/>
        </p:nvSpPr>
        <p:spPr>
          <a:xfrm>
            <a:off x="1361049" y="360602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 i="0">
                <a:solidFill>
                  <a:srgbClr val="FAFAFA"/>
                </a:solidFill>
                <a:latin typeface="Arial"/>
              </a:rPr>
              <a:t>Your AI, on silicon you 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94A3B8"/>
                </a:solidFill>
                <a:latin typeface="Arial"/>
              </a:rPr>
              <a:t>A unified Kickstarter for ThoxClip, ThoxMini, ThoxAir, and ThoxNova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7548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1100" dirty="0">
                <a:solidFill>
                  <a:srgbClr val="0A0E14"/>
                </a:solidFill>
                <a:latin typeface="Xolonium" panose="02000503000000000000" pitchFamily="2" charset="0"/>
              </a:rPr>
              <a:t>Four devices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47548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1100" dirty="0">
                <a:solidFill>
                  <a:srgbClr val="0A0E14"/>
                </a:solidFill>
                <a:latin typeface="Xolonium" panose="02000503000000000000" pitchFamily="2" charset="0"/>
              </a:rPr>
              <a:t>One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47548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000" tIns="0" rIns="60000" bIns="0" rtlCol="0" anchor="ctr"/>
          <a:lstStyle/>
          <a:p>
            <a:pPr algn="ctr"/>
            <a:r>
              <a:rPr sz="1100" dirty="0">
                <a:solidFill>
                  <a:srgbClr val="0A0E14"/>
                </a:solidFill>
                <a:latin typeface="Xolonium" panose="02000503000000000000" pitchFamily="2" charset="0"/>
              </a:rPr>
              <a:t>Honest silicon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52160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34D399"/>
                </a:solidFill>
                <a:latin typeface="Xolonium" panose="02000503000000000000" pitchFamily="2" charset="0"/>
              </a:rPr>
              <a:t>Aug 2026 launch  |  $250K baseline  |  Ships Jan-Apr 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THOX.ai  Your AI, on silicon you 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2801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dirty="0">
                <a:solidFill>
                  <a:srgbClr val="10B981"/>
                </a:solidFill>
                <a:latin typeface="Xolonium" panose="02000503000000000000" pitchFamily="2" charset="0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FAFAFA"/>
                </a:solidFill>
                <a:latin typeface="Arial"/>
              </a:rPr>
              <a:t>Your AI lives in someone else’s datacenter.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1">
                <a:solidFill>
                  <a:srgbClr val="94A3B8"/>
                </a:solidFill>
                <a:latin typeface="Arial"/>
              </a:rPr>
              <a:t>Rented. Throttled. Theirs.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10972800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AFAFA"/>
                </a:solidFill>
                <a:latin typeface="Arial"/>
              </a:rPr>
              <a:t>Every AI assistant on the market is leased software running on rented silicon.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AFAFA"/>
                </a:solidFill>
                <a:latin typeface="Arial"/>
              </a:rPr>
              <a:t>You cannot host it. You cannot extend it. One policy change away from a different product.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AFAFA"/>
                </a:solidFill>
                <a:latin typeface="Arial"/>
              </a:rPr>
              <a:t>The local-first runtimes that make on-device AI viable have arrived. The bodies for that brain have not.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THOX.ai  Your AI, on silicon you 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28016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dirty="0">
                <a:solidFill>
                  <a:srgbClr val="C084FC"/>
                </a:solidFill>
                <a:latin typeface="Xolonium" panose="02000503000000000000" pitchFamily="2" charset="0"/>
              </a:rPr>
              <a:t>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AFAFA"/>
                </a:solidFill>
                <a:latin typeface="Arial"/>
              </a:rPr>
              <a:t>Personal AI should run on silicon you 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1">
                <a:solidFill>
                  <a:srgbClr val="94A3B8"/>
                </a:solidFill>
                <a:latin typeface="Arial"/>
              </a:rPr>
              <a:t>A family of devices, each honest about its job.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657600"/>
            <a:ext cx="2706624" cy="2286000"/>
          </a:xfrm>
          <a:prstGeom prst="roundRect">
            <a:avLst>
              <a:gd name="adj" fmla="val 6000"/>
            </a:avLst>
          </a:prstGeom>
          <a:solidFill>
            <a:srgbClr val="18181B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2340864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dirty="0">
                <a:solidFill>
                  <a:srgbClr val="10B981"/>
                </a:solidFill>
                <a:latin typeface="Xolonium" panose="02000503000000000000" pitchFamily="2" charset="0"/>
              </a:rPr>
              <a:t>WEARABLE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23408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AFAFA"/>
                </a:solidFill>
                <a:latin typeface="Arial"/>
              </a:rPr>
              <a:t>ThoxClip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00600"/>
            <a:ext cx="23408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Arial"/>
              </a:rPr>
              <a:t>Listens, taps, forwards.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38144" y="3657600"/>
            <a:ext cx="2706624" cy="2286000"/>
          </a:xfrm>
          <a:prstGeom prst="roundRect">
            <a:avLst>
              <a:gd name="adj" fmla="val 6000"/>
            </a:avLst>
          </a:prstGeom>
          <a:solidFill>
            <a:srgbClr val="18181B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21024" y="3794760"/>
            <a:ext cx="2340864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dirty="0">
                <a:solidFill>
                  <a:srgbClr val="34D399"/>
                </a:solidFill>
                <a:latin typeface="Xolonium" panose="02000503000000000000" pitchFamily="2" charset="0"/>
              </a:rPr>
              <a:t>POCKETABLE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4160520"/>
            <a:ext cx="23408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AFAFA"/>
                </a:solidFill>
                <a:latin typeface="Arial"/>
              </a:rPr>
              <a:t>ThoxMini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4800600"/>
            <a:ext cx="23408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Arial"/>
              </a:rPr>
              <a:t>RISC-V. Sub-watt. Honest.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3657600"/>
            <a:ext cx="2706624" cy="2286000"/>
          </a:xfrm>
          <a:prstGeom prst="roundRect">
            <a:avLst>
              <a:gd name="adj" fmla="val 6000"/>
            </a:avLst>
          </a:prstGeom>
          <a:solidFill>
            <a:srgbClr val="18181B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19088" y="3794760"/>
            <a:ext cx="2340864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dirty="0">
                <a:solidFill>
                  <a:srgbClr val="A855F7"/>
                </a:solidFill>
                <a:latin typeface="Xolonium" panose="02000503000000000000" pitchFamily="2" charset="0"/>
              </a:rPr>
              <a:t>WIRELESS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160520"/>
            <a:ext cx="23408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AFAFA"/>
                </a:solidFill>
                <a:latin typeface="Arial"/>
              </a:rPr>
              <a:t>ThoxAir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800600"/>
            <a:ext cx="23408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Arial"/>
              </a:rPr>
              <a:t>Clusters over WiFi.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34272" y="3657600"/>
            <a:ext cx="2706624" cy="2286000"/>
          </a:xfrm>
          <a:prstGeom prst="roundRect">
            <a:avLst>
              <a:gd name="adj" fmla="val 6000"/>
            </a:avLst>
          </a:prstGeom>
          <a:solidFill>
            <a:srgbClr val="18181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17152" y="3794760"/>
            <a:ext cx="2340864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dirty="0">
                <a:solidFill>
                  <a:srgbClr val="F59E0B"/>
                </a:solidFill>
                <a:latin typeface="Xolonium" panose="02000503000000000000" pitchFamily="2" charset="0"/>
              </a:rPr>
              <a:t>DESKTOP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4160520"/>
            <a:ext cx="234086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AFAFA"/>
                </a:solidFill>
                <a:latin typeface="Arial"/>
              </a:rPr>
              <a:t>ThoxNova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7152" y="4800600"/>
            <a:ext cx="2340864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Arial"/>
              </a:rPr>
              <a:t>Hosts the LLM.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92240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THOX.ai  Your AI, on silicon you own.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92240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2801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dirty="0">
                <a:solidFill>
                  <a:srgbClr val="10B981"/>
                </a:solidFill>
                <a:latin typeface="Xolonium" panose="02000503000000000000" pitchFamily="2" charset="0"/>
              </a:rPr>
              <a:t>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AFAFA"/>
                </a:solidFill>
                <a:latin typeface="Arial"/>
              </a:rPr>
              <a:t>Four devices, one agent.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6459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dirty="0">
                <a:solidFill>
                  <a:srgbClr val="34D399"/>
                </a:solidFill>
                <a:latin typeface="Xolonium" panose="02000503000000000000" pitchFamily="2" charset="0"/>
              </a:rPr>
              <a:t>Device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194560"/>
            <a:ext cx="246888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dirty="0">
                <a:solidFill>
                  <a:srgbClr val="34D399"/>
                </a:solidFill>
                <a:latin typeface="Xolonium" panose="02000503000000000000" pitchFamily="2" charset="0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194560"/>
            <a:ext cx="50292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dirty="0">
                <a:solidFill>
                  <a:srgbClr val="34D399"/>
                </a:solidFill>
                <a:latin typeface="Xolonium" panose="02000503000000000000" pitchFamily="2" charset="0"/>
              </a:rPr>
              <a:t>Hardware floor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2194560"/>
            <a:ext cx="21031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dirty="0">
                <a:solidFill>
                  <a:srgbClr val="34D399"/>
                </a:solidFill>
                <a:latin typeface="Xolonium" panose="02000503000000000000" pitchFamily="2" charset="0"/>
              </a:rPr>
              <a:t>Backer price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2514600"/>
            <a:ext cx="11247120" cy="0"/>
          </a:xfrm>
          <a:prstGeom prst="line">
            <a:avLst/>
          </a:prstGeom>
          <a:ln w="127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11480" y="2761488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AFAFA"/>
                </a:solidFill>
                <a:latin typeface="Arial"/>
              </a:rPr>
              <a:t>ThoxClip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65176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Arial"/>
              </a:rPr>
              <a:t>Wearable BLE clip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651760"/>
            <a:ext cx="5029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dirty="0">
                <a:solidFill>
                  <a:srgbClr val="34D399"/>
                </a:solidFill>
                <a:latin typeface="Xolonium" panose="02000503000000000000" pitchFamily="2" charset="0"/>
              </a:rPr>
              <a:t>nRF52840 + dual mic + IMU + BLE 5.3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2651760"/>
            <a:ext cx="21031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FAFAFA"/>
                </a:solidFill>
                <a:latin typeface="Xolonium" panose="02000503000000000000" pitchFamily="2" charset="0"/>
              </a:rPr>
              <a:t>$39 early / $49</a:t>
            </a:r>
          </a:p>
        </p:txBody>
      </p:sp>
      <p:sp>
        <p:nvSpPr>
          <p:cNvPr id="16" name="Oval 15"/>
          <p:cNvSpPr/>
          <p:nvPr/>
        </p:nvSpPr>
        <p:spPr>
          <a:xfrm>
            <a:off x="411480" y="3630168"/>
            <a:ext cx="128016" cy="128016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52044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AFAFA"/>
                </a:solidFill>
                <a:latin typeface="Arial"/>
              </a:rPr>
              <a:t>ThoxMini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52044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Arial"/>
              </a:rPr>
              <a:t>Pocketable RISC-V node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520440"/>
            <a:ext cx="5029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dirty="0">
                <a:solidFill>
                  <a:srgbClr val="34D399"/>
                </a:solidFill>
                <a:latin typeface="Xolonium" panose="02000503000000000000" pitchFamily="2" charset="0"/>
              </a:rPr>
              <a:t>Milk-V Duo CV1800B / 64 MB / sub-1W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3520440"/>
            <a:ext cx="21031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FAFAFA"/>
                </a:solidFill>
                <a:latin typeface="Xolonium" panose="02000503000000000000" pitchFamily="2" charset="0"/>
              </a:rPr>
              <a:t>$69</a:t>
            </a:r>
          </a:p>
        </p:txBody>
      </p:sp>
      <p:sp>
        <p:nvSpPr>
          <p:cNvPr id="21" name="Oval 20"/>
          <p:cNvSpPr/>
          <p:nvPr/>
        </p:nvSpPr>
        <p:spPr>
          <a:xfrm>
            <a:off x="411480" y="4498848"/>
            <a:ext cx="128016" cy="128016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38912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AFAFA"/>
                </a:solidFill>
                <a:latin typeface="Arial"/>
              </a:rPr>
              <a:t>ThoxAir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38912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Arial"/>
              </a:rPr>
              <a:t>Wireless cluster node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389120"/>
            <a:ext cx="5029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dirty="0">
                <a:solidFill>
                  <a:srgbClr val="34D399"/>
                </a:solidFill>
                <a:latin typeface="Xolonium" panose="02000503000000000000" pitchFamily="2" charset="0"/>
              </a:rPr>
              <a:t>Pi Zero W class / 512 MB / 2.4 GHz </a:t>
            </a:r>
            <a:r>
              <a:rPr sz="1200" dirty="0" err="1">
                <a:solidFill>
                  <a:srgbClr val="34D399"/>
                </a:solidFill>
                <a:latin typeface="Xolonium" panose="02000503000000000000" pitchFamily="2" charset="0"/>
              </a:rPr>
              <a:t>WiFi</a:t>
            </a:r>
            <a:r>
              <a:rPr sz="1200" dirty="0">
                <a:solidFill>
                  <a:srgbClr val="34D399"/>
                </a:solidFill>
                <a:latin typeface="Xolonium" panose="02000503000000000000" pitchFamily="2" charset="0"/>
              </a:rPr>
              <a:t> + BT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4389120"/>
            <a:ext cx="210312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FAFAFA"/>
                </a:solidFill>
                <a:latin typeface="Xolonium" panose="02000503000000000000" pitchFamily="2" charset="0"/>
              </a:rPr>
              <a:t>$79 / $349 (4-pack)</a:t>
            </a:r>
          </a:p>
        </p:txBody>
      </p:sp>
      <p:sp>
        <p:nvSpPr>
          <p:cNvPr id="26" name="Oval 25"/>
          <p:cNvSpPr/>
          <p:nvPr/>
        </p:nvSpPr>
        <p:spPr>
          <a:xfrm>
            <a:off x="411480" y="5367528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5257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AFAFA"/>
                </a:solidFill>
                <a:latin typeface="Arial"/>
              </a:rPr>
              <a:t>ThoxNova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525780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Arial"/>
              </a:rPr>
              <a:t>Desktop inference hub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5257800"/>
            <a:ext cx="5029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dirty="0">
                <a:solidFill>
                  <a:srgbClr val="34D399"/>
                </a:solidFill>
                <a:latin typeface="Xolonium" panose="02000503000000000000" pitchFamily="2" charset="0"/>
              </a:rPr>
              <a:t>Intel N100 / 16 GB / passive / </a:t>
            </a:r>
            <a:r>
              <a:rPr sz="1200" dirty="0" err="1">
                <a:solidFill>
                  <a:srgbClr val="34D399"/>
                </a:solidFill>
                <a:latin typeface="Xolonium" panose="02000503000000000000" pitchFamily="2" charset="0"/>
              </a:rPr>
              <a:t>iGPU</a:t>
            </a:r>
            <a:endParaRPr sz="1200" dirty="0">
              <a:solidFill>
                <a:srgbClr val="34D399"/>
              </a:solidFill>
              <a:latin typeface="Xolonium" panose="02000503000000000000" pitchFamily="2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784080" y="5257800"/>
            <a:ext cx="21031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FAFAFA"/>
                </a:solidFill>
                <a:latin typeface="Xolonium" panose="02000503000000000000" pitchFamily="2" charset="0"/>
              </a:rPr>
              <a:t>$499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92240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THOX.ai  Your AI, on silicon you own.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92240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2801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dirty="0">
                <a:solidFill>
                  <a:srgbClr val="10B981"/>
                </a:solidFill>
                <a:latin typeface="Xolonium" panose="02000503000000000000" pitchFamily="2" charset="0"/>
              </a:rPr>
              <a:t>THE FRONT DOOR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AFAFA"/>
                </a:solidFill>
                <a:latin typeface="Arial"/>
              </a:rPr>
              <a:t>ThoxClip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1">
                <a:solidFill>
                  <a:srgbClr val="94A3B8"/>
                </a:solidFill>
                <a:latin typeface="Arial"/>
              </a:rPr>
              <a:t>Listens, taps, forwards.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68580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AFAFA"/>
                </a:solidFill>
                <a:latin typeface="Arial"/>
              </a:rPr>
              <a:t>Wearable BLE clip with dual mics and a 6-axis IMU.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AFAFA"/>
                </a:solidFill>
                <a:latin typeface="Arial"/>
              </a:rPr>
              <a:t>Runs wake-word, tap classifier, and fall-detect on-device.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AFAFA"/>
                </a:solidFill>
                <a:latin typeface="Arial"/>
              </a:rPr>
              <a:t>Routes everything else over BLE to whichever THOX node it is paired with.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AFAFA"/>
                </a:solidFill>
                <a:latin typeface="Arial"/>
              </a:rPr>
              <a:t>Magnetic clip, aluminum body, 12-hour battery, USB-C charging.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108960"/>
            <a:ext cx="3657600" cy="2743200"/>
          </a:xfrm>
          <a:prstGeom prst="roundRect">
            <a:avLst>
              <a:gd name="adj" fmla="val 6000"/>
            </a:avLst>
          </a:prstGeom>
          <a:solidFill>
            <a:srgbClr val="18181B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0" y="3246120"/>
            <a:ext cx="32918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dirty="0">
                <a:solidFill>
                  <a:srgbClr val="10B981"/>
                </a:solidFill>
                <a:latin typeface="Xolonium" panose="02000503000000000000" pitchFamily="2" charset="0"/>
              </a:rPr>
              <a:t>SPECS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611880"/>
            <a:ext cx="3291840" cy="14003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SoC      nRF52840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Mics     2 × MEMS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Sensors  6-axis IMU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Radio    BLE 5.3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Power    USB-C, 12 </a:t>
            </a:r>
            <a:r>
              <a:rPr sz="1100" dirty="0" err="1">
                <a:solidFill>
                  <a:srgbClr val="FAFAFA"/>
                </a:solidFill>
                <a:latin typeface="Xolonium" panose="02000503000000000000" pitchFamily="2" charset="0"/>
              </a:rPr>
              <a:t>hr</a:t>
            </a:r>
            <a:endParaRPr sz="1100" dirty="0">
              <a:solidFill>
                <a:srgbClr val="FAFAFA"/>
              </a:solidFill>
              <a:latin typeface="Xolonium" panose="02000503000000000000" pitchFamily="2" charset="0"/>
            </a:endParaRP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Body     Anodized 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35040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10B981"/>
                </a:solidFill>
                <a:latin typeface="Xolonium" panose="02000503000000000000" pitchFamily="2" charset="0"/>
              </a:rPr>
              <a:t>Price  $39 early-bird  |  $49 list  |  $109 with ThoxMini (Maker Kit)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THOX.ai  Your AI, on silicon you 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280160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dirty="0">
                <a:solidFill>
                  <a:srgbClr val="34D399"/>
                </a:solidFill>
                <a:latin typeface="Xolonium" panose="02000503000000000000" pitchFamily="2" charset="0"/>
              </a:rPr>
              <a:t>THE POCKET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AFAFA"/>
                </a:solidFill>
                <a:latin typeface="Arial"/>
              </a:rPr>
              <a:t>ThoxMini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1">
                <a:solidFill>
                  <a:srgbClr val="94A3B8"/>
                </a:solidFill>
                <a:latin typeface="Arial"/>
              </a:rPr>
              <a:t>RISC-V. Sub-watt. Honest about what it cannot 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68580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AFAFA"/>
                </a:solidFill>
                <a:latin typeface="Arial"/>
              </a:rPr>
              <a:t>Pocketable RISC-V node built on the Milk-V Duo (CV1800B dual-core 1 GHz).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AFAFA"/>
                </a:solidFill>
                <a:latin typeface="Arial"/>
              </a:rPr>
              <a:t>Boots ThoxOS Mini in under 3 seconds. No fans, no battery, no display.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AFAFA"/>
                </a:solidFill>
                <a:latin typeface="Arial"/>
              </a:rPr>
              <a:t>Edge sensor processing, MQTT gateway, ThoxClip relay, HDMI-CEC THOX output.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AFAFA"/>
                </a:solidFill>
                <a:latin typeface="Arial"/>
              </a:rPr>
              <a:t>Offloads chat-class inference to ThoxNova. Will never claim to host an LLM.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108960"/>
            <a:ext cx="3657600" cy="2743200"/>
          </a:xfrm>
          <a:prstGeom prst="roundRect">
            <a:avLst>
              <a:gd name="adj" fmla="val 6000"/>
            </a:avLst>
          </a:prstGeom>
          <a:solidFill>
            <a:srgbClr val="18181B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0" y="3246120"/>
            <a:ext cx="32918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dirty="0">
                <a:solidFill>
                  <a:srgbClr val="34D399"/>
                </a:solidFill>
                <a:latin typeface="Xolonium" panose="02000503000000000000" pitchFamily="2" charset="0"/>
              </a:rPr>
              <a:t>SPECS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611880"/>
            <a:ext cx="3291840" cy="14003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SoC      Milk-V Duo (CV1800B)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Cores    2 × RISC-V @ 1 GHz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Memory   64 MB SRAM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Storage  microSD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Power    &lt;1 W sustained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I/O      USB-C, 3 UART, 2 I2C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35040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34D399"/>
                </a:solidFill>
                <a:latin typeface="Xolonium" panose="02000503000000000000" pitchFamily="2" charset="0"/>
              </a:rPr>
              <a:t>Price  $69  |  Maker Kit (ThoxMini + ThoxClip) $109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THOX.ai  Your AI, on silicon you 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28016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dirty="0">
                <a:solidFill>
                  <a:srgbClr val="A855F7"/>
                </a:solidFill>
                <a:latin typeface="Xolonium" panose="02000503000000000000" pitchFamily="2" charset="0"/>
              </a:rPr>
              <a:t>THE WIRELESS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AFAFA"/>
                </a:solidFill>
                <a:latin typeface="Arial"/>
              </a:rPr>
              <a:t>ThoxAir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1">
                <a:solidFill>
                  <a:srgbClr val="94A3B8"/>
                </a:solidFill>
                <a:latin typeface="Arial"/>
              </a:rPr>
              <a:t>Clusters over WiFi. The cluster appears to the agent as one node.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68580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AFAFA"/>
                </a:solidFill>
                <a:latin typeface="Arial"/>
              </a:rPr>
              <a:t>Pi Zero W class node with magnetic pogo connectors on top and bottom.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AFAFA"/>
                </a:solidFill>
                <a:latin typeface="Arial"/>
              </a:rPr>
              <a:t>Four ThoxAir boards stack on one USB-C 5V/4A cable into a complete MagStack Air cluster.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AFAFA"/>
                </a:solidFill>
                <a:latin typeface="Arial"/>
              </a:rPr>
              <a:t>mDNS leader election, SQLite-backed task queue, no central controller to provision.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AFAFA"/>
                </a:solidFill>
                <a:latin typeface="Arial"/>
              </a:rPr>
              <a:t>Sub-1B model runs across the 4-node stack via llama.cpp --rpc layer-pipeline parallelism.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108960"/>
            <a:ext cx="3657600" cy="2743200"/>
          </a:xfrm>
          <a:prstGeom prst="roundRect">
            <a:avLst>
              <a:gd name="adj" fmla="val 6000"/>
            </a:avLst>
          </a:prstGeom>
          <a:solidFill>
            <a:srgbClr val="18181B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0" y="3246120"/>
            <a:ext cx="32918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dirty="0">
                <a:solidFill>
                  <a:srgbClr val="A855F7"/>
                </a:solidFill>
                <a:latin typeface="Xolonium" panose="02000503000000000000" pitchFamily="2" charset="0"/>
              </a:rPr>
              <a:t>SPECS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611880"/>
            <a:ext cx="3291840" cy="14003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SoC      BCM2835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Memory   512 MB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Radio    2.4 GHz </a:t>
            </a:r>
            <a:r>
              <a:rPr sz="1100" dirty="0" err="1">
                <a:solidFill>
                  <a:srgbClr val="FAFAFA"/>
                </a:solidFill>
                <a:latin typeface="Xolonium" panose="02000503000000000000" pitchFamily="2" charset="0"/>
              </a:rPr>
              <a:t>WiFi</a:t>
            </a: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 + BT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Storage  microSD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Stack    Magnetic 6-pin pogo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Cluster  MagStack Air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35040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A855F7"/>
                </a:solidFill>
                <a:latin typeface="Xolonium" panose="02000503000000000000" pitchFamily="2" charset="0"/>
              </a:rPr>
              <a:t>Price  $79  |  Cluster Pack (4 + base) $349  |  Air Kit (</a:t>
            </a:r>
            <a:r>
              <a:rPr sz="1400" dirty="0" err="1">
                <a:solidFill>
                  <a:srgbClr val="A855F7"/>
                </a:solidFill>
                <a:latin typeface="Xolonium" panose="02000503000000000000" pitchFamily="2" charset="0"/>
              </a:rPr>
              <a:t>ThoxAir</a:t>
            </a:r>
            <a:r>
              <a:rPr sz="1400" dirty="0">
                <a:solidFill>
                  <a:srgbClr val="A855F7"/>
                </a:solidFill>
                <a:latin typeface="Xolonium" panose="02000503000000000000" pitchFamily="2" charset="0"/>
              </a:rPr>
              <a:t> + ThoxClip) $119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THOX.ai  Your AI, on silicon you 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28016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dirty="0">
                <a:solidFill>
                  <a:srgbClr val="F59E0B"/>
                </a:solidFill>
                <a:latin typeface="Xolonium" panose="02000503000000000000" pitchFamily="2" charset="0"/>
              </a:rPr>
              <a:t>THE DESKTOP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FAFAFA"/>
                </a:solidFill>
                <a:latin typeface="Arial"/>
              </a:rPr>
              <a:t>ThoxNova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1">
                <a:solidFill>
                  <a:srgbClr val="94A3B8"/>
                </a:solidFill>
                <a:latin typeface="Arial"/>
              </a:rPr>
              <a:t>Hosts the LLM. Locally. Every other device routes 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68580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AFAFA"/>
                </a:solidFill>
                <a:latin typeface="Arial"/>
              </a:rPr>
              <a:t>LattePanda N100 (Intel N100, 16 GB DDR5, 256 GB NVMe). Passive cooling.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AFAFA"/>
                </a:solidFill>
                <a:latin typeface="Arial"/>
              </a:rPr>
              <a:t>Runs llama-server-sycl with Intel iGPU acceleration. Default models: Qwen3-7B, Gemma 3 12B, Llama 3.2 11B.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AFAFA"/>
                </a:solidFill>
                <a:latin typeface="Arial"/>
              </a:rPr>
              <a:t>Serves the THOX dashboard at http://thoxnova.local. MagStack Air leader for ThoxAir clusters.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AFAFA"/>
                </a:solidFill>
                <a:latin typeface="Arial"/>
              </a:rPr>
              <a:t>Aluminum case with the THOX badge in MagStack purple. Built-in dock for one ThoxClip.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108960"/>
            <a:ext cx="3657600" cy="2743200"/>
          </a:xfrm>
          <a:prstGeom prst="roundRect">
            <a:avLst>
              <a:gd name="adj" fmla="val 6000"/>
            </a:avLst>
          </a:prstGeom>
          <a:solidFill>
            <a:srgbClr val="18181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0" y="3246120"/>
            <a:ext cx="329184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dirty="0">
                <a:solidFill>
                  <a:srgbClr val="F59E0B"/>
                </a:solidFill>
                <a:latin typeface="Xolonium" panose="02000503000000000000" pitchFamily="2" charset="0"/>
              </a:rPr>
              <a:t>SPECS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611880"/>
            <a:ext cx="3291840" cy="14003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CPU      Intel N100 4C / 4T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Memory   16 GB DDR5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Storage  256 GB NVMe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Network  Ethernet, </a:t>
            </a:r>
            <a:r>
              <a:rPr sz="1100" dirty="0" err="1">
                <a:solidFill>
                  <a:srgbClr val="FAFAFA"/>
                </a:solidFill>
                <a:latin typeface="Xolonium" panose="02000503000000000000" pitchFamily="2" charset="0"/>
              </a:rPr>
              <a:t>WiFi</a:t>
            </a: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 6, BT 5.3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I/O      USB-C, USB-A, HDMI</a:t>
            </a:r>
          </a:p>
          <a:p>
            <a:pPr algn="l">
              <a:spcAft>
                <a:spcPts val="600"/>
              </a:spcAft>
            </a:pPr>
            <a:r>
              <a:rPr sz="1100" dirty="0">
                <a:solidFill>
                  <a:srgbClr val="FAFAFA"/>
                </a:solidFill>
                <a:latin typeface="Xolonium" panose="02000503000000000000" pitchFamily="2" charset="0"/>
              </a:rPr>
              <a:t>Power    12 V DC, passive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35040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F59E0B"/>
                </a:solidFill>
                <a:latin typeface="Xolonium" panose="02000503000000000000" pitchFamily="2" charset="0"/>
              </a:rPr>
              <a:t>Price  $499  |  Family Bundle (Nova + Mini + Air + Clip) $599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THOX.ai  Your AI, on silicon you 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2801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dirty="0">
                <a:solidFill>
                  <a:srgbClr val="10B981"/>
                </a:solidFill>
                <a:latin typeface="Xolonium" panose="02000503000000000000" pitchFamily="2" charset="0"/>
              </a:rPr>
              <a:t>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AFAFA"/>
                </a:solidFill>
                <a:latin typeface="Arial"/>
              </a:rPr>
              <a:t>How they work together.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60320"/>
            <a:ext cx="2011680" cy="118872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69748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AFAFA"/>
                </a:solidFill>
                <a:latin typeface="Arial"/>
              </a:rPr>
              <a:t>ThoxClip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63240"/>
            <a:ext cx="173736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10B981"/>
                </a:solidFill>
                <a:latin typeface="Xolonium" panose="02000503000000000000" pitchFamily="2" charset="0"/>
              </a:rPr>
              <a:t>BLE 5.3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554480"/>
            <a:ext cx="2377440" cy="128016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952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94760" y="16916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AFAFA"/>
                </a:solidFill>
                <a:latin typeface="Arial"/>
              </a:rPr>
              <a:t>ThoxMini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2057400"/>
            <a:ext cx="21031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34D399"/>
                </a:solidFill>
                <a:latin typeface="Xolonium" panose="02000503000000000000" pitchFamily="2" charset="0"/>
              </a:rPr>
              <a:t>USB / </a:t>
            </a:r>
            <a:r>
              <a:rPr sz="900" dirty="0" err="1">
                <a:solidFill>
                  <a:srgbClr val="34D399"/>
                </a:solidFill>
                <a:latin typeface="Xolonium" panose="02000503000000000000" pitchFamily="2" charset="0"/>
              </a:rPr>
              <a:t>WiFi</a:t>
            </a:r>
            <a:endParaRPr sz="900" dirty="0">
              <a:solidFill>
                <a:srgbClr val="34D399"/>
              </a:solidFill>
              <a:latin typeface="Xolonium" panose="02000503000000000000" pitchFamily="2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657600" y="3840480"/>
            <a:ext cx="2377440" cy="128016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952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94760" y="39776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AFAFA"/>
                </a:solidFill>
                <a:latin typeface="Arial"/>
              </a:rPr>
              <a:t>ThoxAir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4343400"/>
            <a:ext cx="210312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A855F7"/>
                </a:solidFill>
                <a:latin typeface="Xolonium" panose="02000503000000000000" pitchFamily="2" charset="0"/>
              </a:rPr>
              <a:t>MagStack Air </a:t>
            </a:r>
            <a:r>
              <a:rPr sz="900" dirty="0" err="1">
                <a:solidFill>
                  <a:srgbClr val="A855F7"/>
                </a:solidFill>
                <a:latin typeface="Xolonium" panose="02000503000000000000" pitchFamily="2" charset="0"/>
              </a:rPr>
              <a:t>WiFi</a:t>
            </a:r>
            <a:endParaRPr sz="900" dirty="0">
              <a:solidFill>
                <a:srgbClr val="A855F7"/>
              </a:solidFill>
              <a:latin typeface="Xolonium" panose="02000503000000000000" pitchFamily="2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949440" y="2560320"/>
            <a:ext cx="2560320" cy="137160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86600" y="26974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AFAFA"/>
                </a:solidFill>
                <a:latin typeface="Arial"/>
              </a:rPr>
              <a:t>ThoxNova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063240"/>
            <a:ext cx="22860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F59E0B"/>
                </a:solidFill>
                <a:latin typeface="Xolonium" panose="02000503000000000000" pitchFamily="2" charset="0"/>
              </a:rPr>
              <a:t>LLM host / dashboard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0" y="2560320"/>
            <a:ext cx="1828800" cy="1188720"/>
          </a:xfrm>
          <a:prstGeom prst="roundRect">
            <a:avLst>
              <a:gd name="adj" fmla="val 10000"/>
            </a:avLst>
          </a:prstGeom>
          <a:solidFill>
            <a:srgbClr val="18181B"/>
          </a:solidFill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195560" y="2697480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AFAFA"/>
                </a:solidFill>
                <a:latin typeface="Arial"/>
              </a:rPr>
              <a:t>Cloud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5560" y="3063240"/>
            <a:ext cx="155448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94A3B8"/>
                </a:solidFill>
                <a:latin typeface="Xolonium" panose="02000503000000000000" pitchFamily="2" charset="0"/>
              </a:rPr>
              <a:t>optional, your terms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2834640" y="2011680"/>
            <a:ext cx="822960" cy="91440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834640" y="3383280"/>
            <a:ext cx="822960" cy="91440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35040" y="2011680"/>
            <a:ext cx="914400" cy="914400"/>
          </a:xfrm>
          <a:prstGeom prst="line">
            <a:avLst/>
          </a:prstGeom>
          <a:ln w="19050">
            <a:solidFill>
              <a:srgbClr val="34D3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035040" y="3383280"/>
            <a:ext cx="914400" cy="914400"/>
          </a:xfrm>
          <a:prstGeom prst="line">
            <a:avLst/>
          </a:prstGeom>
          <a:ln w="190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509760" y="3108960"/>
            <a:ext cx="54864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" y="5852160"/>
            <a:ext cx="10972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dirty="0">
                <a:solidFill>
                  <a:srgbClr val="94A3B8"/>
                </a:solidFill>
                <a:latin typeface="Xolonium" panose="02000503000000000000" pitchFamily="2" charset="0"/>
              </a:rPr>
              <a:t>ThoxClip listens.  ThoxMini and </a:t>
            </a:r>
            <a:r>
              <a:rPr sz="1300" dirty="0" err="1">
                <a:solidFill>
                  <a:srgbClr val="94A3B8"/>
                </a:solidFill>
                <a:latin typeface="Xolonium" panose="02000503000000000000" pitchFamily="2" charset="0"/>
              </a:rPr>
              <a:t>ThoxAir</a:t>
            </a:r>
            <a:r>
              <a:rPr sz="1300" dirty="0">
                <a:solidFill>
                  <a:srgbClr val="94A3B8"/>
                </a:solidFill>
                <a:latin typeface="Xolonium" panose="02000503000000000000" pitchFamily="2" charset="0"/>
              </a:rPr>
              <a:t> route.  ThoxNova hosts.  Cloud is optional and on your terms.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92240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THOX.ai  Your AI, on silicon you own.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92240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2801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dirty="0">
                <a:solidFill>
                  <a:srgbClr val="10B981"/>
                </a:solidFill>
                <a:latin typeface="Xolonium" panose="02000503000000000000" pitchFamily="2" charset="0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AFAFA"/>
                </a:solidFill>
                <a:latin typeface="Arial"/>
              </a:rPr>
              <a:t>The software stack already ships. The hardware does not.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3017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dirty="0" err="1">
                <a:solidFill>
                  <a:srgbClr val="34D399"/>
                </a:solidFill>
                <a:latin typeface="Xolonium" panose="02000503000000000000" pitchFamily="2" charset="0"/>
              </a:rPr>
              <a:t>thox-vmlx</a:t>
            </a:r>
            <a:endParaRPr sz="1300" dirty="0">
              <a:solidFill>
                <a:srgbClr val="34D399"/>
              </a:solidFill>
              <a:latin typeface="Xolonium" panose="02000503000000000000" pitchFamily="2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840480" y="201168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AFAFA"/>
                </a:solidFill>
                <a:latin typeface="Arial"/>
              </a:rPr>
              <a:t>Apple Silicon MLX runtime live in alpha.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3017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dirty="0" err="1">
                <a:solidFill>
                  <a:srgbClr val="34D399"/>
                </a:solidFill>
                <a:latin typeface="Xolonium" panose="02000503000000000000" pitchFamily="2" charset="0"/>
              </a:rPr>
              <a:t>magstack</a:t>
            </a:r>
            <a:r>
              <a:rPr sz="1300" dirty="0">
                <a:solidFill>
                  <a:srgbClr val="34D399"/>
                </a:solidFill>
                <a:latin typeface="Xolonium" panose="02000503000000000000" pitchFamily="2" charset="0"/>
              </a:rPr>
              <a:t>-air family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60604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AFAFA"/>
                </a:solidFill>
                <a:latin typeface="Arial"/>
              </a:rPr>
              <a:t>Three Wi-Fi cluster repos already running on Pi Zero 2 W class boards.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3017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dirty="0" err="1">
                <a:solidFill>
                  <a:srgbClr val="34D399"/>
                </a:solidFill>
                <a:latin typeface="Xolonium" panose="02000503000000000000" pitchFamily="2" charset="0"/>
              </a:rPr>
              <a:t>thoxymicro</a:t>
            </a:r>
            <a:r>
              <a:rPr sz="1300" dirty="0">
                <a:solidFill>
                  <a:srgbClr val="34D399"/>
                </a:solidFill>
                <a:latin typeface="Xolonium" panose="02000503000000000000" pitchFamily="2" charset="0"/>
              </a:rPr>
              <a:t> family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20040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AFAFA"/>
                </a:solidFill>
                <a:latin typeface="Arial"/>
              </a:rPr>
              <a:t>Go agent for RV1103 and similar edge silicon; 5.1 MB binary ships.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94760"/>
            <a:ext cx="3017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dirty="0" err="1">
                <a:solidFill>
                  <a:srgbClr val="34D399"/>
                </a:solidFill>
                <a:latin typeface="Xolonium" panose="02000503000000000000" pitchFamily="2" charset="0"/>
              </a:rPr>
              <a:t>thox</a:t>
            </a:r>
            <a:r>
              <a:rPr sz="1300" dirty="0">
                <a:solidFill>
                  <a:srgbClr val="34D399"/>
                </a:solidFill>
                <a:latin typeface="Xolonium" panose="02000503000000000000" pitchFamily="2" charset="0"/>
              </a:rPr>
              <a:t>-forge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79476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AFAFA"/>
                </a:solidFill>
                <a:latin typeface="Arial"/>
              </a:rPr>
              <a:t>Operator dashboard live on Vercel; sees every device, every cluster.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389120"/>
            <a:ext cx="3017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dirty="0" err="1">
                <a:solidFill>
                  <a:srgbClr val="34D399"/>
                </a:solidFill>
                <a:latin typeface="Xolonium" panose="02000503000000000000" pitchFamily="2" charset="0"/>
              </a:rPr>
              <a:t>thoxymicro</a:t>
            </a:r>
            <a:r>
              <a:rPr sz="1300" dirty="0">
                <a:solidFill>
                  <a:srgbClr val="34D399"/>
                </a:solidFill>
                <a:latin typeface="Xolonium" panose="02000503000000000000" pitchFamily="2" charset="0"/>
              </a:rPr>
              <a:t>-install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38912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AFAFA"/>
                </a:solidFill>
                <a:latin typeface="Arial"/>
              </a:rPr>
              <a:t>Public one-liner installer. Backers can flash their devices on unbox day.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983480"/>
            <a:ext cx="3017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dirty="0">
                <a:solidFill>
                  <a:srgbClr val="34D399"/>
                </a:solidFill>
                <a:latin typeface="Xolonium" panose="02000503000000000000" pitchFamily="2" charset="0"/>
              </a:rPr>
              <a:t>Edge silicon caught 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98348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AFAFA"/>
                </a:solidFill>
                <a:latin typeface="Arial"/>
              </a:rPr>
              <a:t>RV1103 ($10), Pi Zero W class ($15), Milk-V Duo ($9), N100 ($150). All mature.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THOX.ai  Your AI, on silicon you own.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92240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2801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dirty="0">
                <a:solidFill>
                  <a:srgbClr val="10B981"/>
                </a:solidFill>
                <a:latin typeface="Xolonium" panose="02000503000000000000" pitchFamily="2" charset="0"/>
              </a:rPr>
              <a:t>BACKER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AFAFA"/>
                </a:solidFill>
                <a:latin typeface="Arial"/>
              </a:rPr>
              <a:t>Pick the device. Or pick the family.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947672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AFAFA"/>
                </a:solidFill>
                <a:latin typeface="Arial"/>
              </a:rPr>
              <a:t>Early-bird ThoxClip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828800"/>
            <a:ext cx="1371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10B981"/>
                </a:solidFill>
                <a:latin typeface="Xolonium" panose="02000503000000000000" pitchFamily="2" charset="0"/>
              </a:rPr>
              <a:t>$39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82880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1 × ThoxClip + charger + lanyard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359152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2402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AFAFA"/>
                </a:solidFill>
                <a:latin typeface="Arial"/>
              </a:rPr>
              <a:t>ThoxClip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240280"/>
            <a:ext cx="1371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10B981"/>
                </a:solidFill>
                <a:latin typeface="Xolonium" panose="02000503000000000000" pitchFamily="2" charset="0"/>
              </a:rPr>
              <a:t>$49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24028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After early-bird sells out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2770632"/>
            <a:ext cx="128016" cy="128016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6517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AFAFA"/>
                </a:solidFill>
                <a:latin typeface="Arial"/>
              </a:rPr>
              <a:t>ThoxMini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651760"/>
            <a:ext cx="1371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34D399"/>
                </a:solidFill>
                <a:latin typeface="Xolonium" panose="02000503000000000000" pitchFamily="2" charset="0"/>
              </a:rPr>
              <a:t>$69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5176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1 × ThoxMini + USB-C + microSD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3182112"/>
            <a:ext cx="128016" cy="128016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0632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AFAFA"/>
                </a:solidFill>
                <a:latin typeface="Arial"/>
              </a:rPr>
              <a:t>ThoxAir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063240"/>
            <a:ext cx="1371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A855F7"/>
                </a:solidFill>
                <a:latin typeface="Xolonium" panose="02000503000000000000" pitchFamily="2" charset="0"/>
              </a:rPr>
              <a:t>$79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06324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1 × ThoxAir + USB-C + microSD</a:t>
            </a:r>
          </a:p>
        </p:txBody>
      </p:sp>
      <p:sp>
        <p:nvSpPr>
          <p:cNvPr id="22" name="Oval 21"/>
          <p:cNvSpPr/>
          <p:nvPr/>
        </p:nvSpPr>
        <p:spPr>
          <a:xfrm>
            <a:off x="640080" y="3593592"/>
            <a:ext cx="128016" cy="128016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4747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AFAFA"/>
                </a:solidFill>
                <a:latin typeface="Arial"/>
              </a:rPr>
              <a:t>Maker Kit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3474720"/>
            <a:ext cx="1371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34D399"/>
                </a:solidFill>
                <a:latin typeface="Xolonium" panose="02000503000000000000" pitchFamily="2" charset="0"/>
              </a:rPr>
              <a:t>$109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347472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ThoxMini + ThoxClip + dev docs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4005072"/>
            <a:ext cx="128016" cy="128016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388620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AFAFA"/>
                </a:solidFill>
                <a:latin typeface="Arial"/>
              </a:rPr>
              <a:t>Air Kit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3886200"/>
            <a:ext cx="1371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A855F7"/>
                </a:solidFill>
                <a:latin typeface="Xolonium" panose="02000503000000000000" pitchFamily="2" charset="0"/>
              </a:rPr>
              <a:t>$119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388620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ThoxAir + ThoxClip + dev docs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" y="4416552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2976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AFAFA"/>
                </a:solidFill>
                <a:latin typeface="Arial"/>
              </a:rPr>
              <a:t>ThoxNova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4297680"/>
            <a:ext cx="1371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F59E0B"/>
                </a:solidFill>
                <a:latin typeface="Xolonium" panose="02000503000000000000" pitchFamily="2" charset="0"/>
              </a:rPr>
              <a:t>$499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29768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ThoxNova + brick + ThoxClip dock</a:t>
            </a:r>
          </a:p>
        </p:txBody>
      </p:sp>
      <p:sp>
        <p:nvSpPr>
          <p:cNvPr id="34" name="Oval 33"/>
          <p:cNvSpPr/>
          <p:nvPr/>
        </p:nvSpPr>
        <p:spPr>
          <a:xfrm>
            <a:off x="640080" y="4828032"/>
            <a:ext cx="128016" cy="128016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470916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AFAFA"/>
                </a:solidFill>
                <a:latin typeface="Arial"/>
              </a:rPr>
              <a:t>Cluster Pack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4709160"/>
            <a:ext cx="1371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A855F7"/>
                </a:solidFill>
                <a:latin typeface="Xolonium" panose="02000503000000000000" pitchFamily="2" charset="0"/>
              </a:rPr>
              <a:t>$349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470916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4 × ThoxAir + magnetic base + hub</a:t>
            </a:r>
          </a:p>
        </p:txBody>
      </p:sp>
      <p:sp>
        <p:nvSpPr>
          <p:cNvPr id="38" name="Oval 37"/>
          <p:cNvSpPr/>
          <p:nvPr/>
        </p:nvSpPr>
        <p:spPr>
          <a:xfrm>
            <a:off x="640080" y="5239512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512064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AFAFA"/>
                </a:solidFill>
                <a:latin typeface="Arial"/>
              </a:rPr>
              <a:t>Family Bundle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5120640"/>
            <a:ext cx="1371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F59E0B"/>
                </a:solidFill>
                <a:latin typeface="Xolonium" panose="02000503000000000000" pitchFamily="2" charset="0"/>
              </a:rPr>
              <a:t>$599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0" y="512064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Nova + Mini + Air + Clip + docs</a:t>
            </a:r>
          </a:p>
        </p:txBody>
      </p:sp>
      <p:sp>
        <p:nvSpPr>
          <p:cNvPr id="42" name="Oval 41"/>
          <p:cNvSpPr/>
          <p:nvPr/>
        </p:nvSpPr>
        <p:spPr>
          <a:xfrm>
            <a:off x="640080" y="5650992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55321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AFAFA"/>
                </a:solidFill>
                <a:latin typeface="Arial"/>
              </a:rPr>
              <a:t>Founders Pack (100)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80" y="5532120"/>
            <a:ext cx="1371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>
                <a:solidFill>
                  <a:srgbClr val="F59E0B"/>
                </a:solidFill>
                <a:latin typeface="Xolonium" panose="02000503000000000000" pitchFamily="2" charset="0"/>
              </a:rPr>
              <a:t>$1,299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52160" y="553212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Family + serial enclosure + lifetime updates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492240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THOX.ai  Your AI, on silicon you own.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492240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28016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dirty="0">
                <a:solidFill>
                  <a:srgbClr val="C084FC"/>
                </a:solidFill>
                <a:latin typeface="Xolonium" panose="02000503000000000000" pitchFamily="2" charset="0"/>
              </a:rPr>
              <a:t>STRETCH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>
                <a:solidFill>
                  <a:srgbClr val="FAFAFA"/>
                </a:solidFill>
                <a:latin typeface="Arial"/>
              </a:rPr>
              <a:t>Everyone wins as we grow.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54864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286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dirty="0">
                <a:solidFill>
                  <a:srgbClr val="10B981"/>
                </a:solidFill>
                <a:latin typeface="Xolonium" panose="02000503000000000000" pitchFamily="2" charset="0"/>
              </a:rPr>
              <a:t>$250K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0116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Arial"/>
              </a:rPr>
              <a:t>Baseline production run. All tiers ship as listed.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54864" cy="365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651760"/>
            <a:ext cx="2286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dirty="0">
                <a:solidFill>
                  <a:srgbClr val="34D399"/>
                </a:solidFill>
                <a:latin typeface="Xolonium" panose="02000503000000000000" pitchFamily="2" charset="0"/>
              </a:rPr>
              <a:t>$500K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5176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Arial"/>
              </a:rPr>
              <a:t>ThoxOS Mini preflashed with the THOX agent fleet preloaded.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383280"/>
            <a:ext cx="54864" cy="3657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291840"/>
            <a:ext cx="2286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dirty="0">
                <a:solidFill>
                  <a:srgbClr val="A855F7"/>
                </a:solidFill>
                <a:latin typeface="Xolonium" panose="02000503000000000000" pitchFamily="2" charset="0"/>
              </a:rPr>
              <a:t>$1.0M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2918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Arial"/>
              </a:rPr>
              <a:t>MagStack Air firmware bundled on every ThoxAir at no extra cost.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4864" cy="36576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931920"/>
            <a:ext cx="2286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dirty="0">
                <a:solidFill>
                  <a:srgbClr val="C084FC"/>
                </a:solidFill>
                <a:latin typeface="Xolonium" panose="02000503000000000000" pitchFamily="2" charset="0"/>
              </a:rPr>
              <a:t>$1.5M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93192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Arial"/>
              </a:rPr>
              <a:t>ThoxClip gets bone-conduction audio output.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663440"/>
            <a:ext cx="54864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2286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dirty="0">
                <a:solidFill>
                  <a:srgbClr val="F59E0B"/>
                </a:solidFill>
                <a:latin typeface="Xolonium" panose="02000503000000000000" pitchFamily="2" charset="0"/>
              </a:rPr>
              <a:t>$2.0M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5720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Arial"/>
              </a:rPr>
              <a:t>ThoxNova gets a discrete NPU module slot (Hailo / RKNPU2 / Coral).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303520"/>
            <a:ext cx="54864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212080"/>
            <a:ext cx="2286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dirty="0">
                <a:solidFill>
                  <a:srgbClr val="F59E0B"/>
                </a:solidFill>
                <a:latin typeface="Xolonium" panose="02000503000000000000" pitchFamily="2" charset="0"/>
              </a:rPr>
              <a:t>$3.0M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52120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FAFAFA"/>
                </a:solidFill>
                <a:latin typeface="Arial"/>
              </a:rPr>
              <a:t>Open hardware: KiCad + STEP + Buildroot configs under CERN-OHL-S.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92240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THOX.ai  Your AI, on silicon you own.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92240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2801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dirty="0">
                <a:solidFill>
                  <a:srgbClr val="10B981"/>
                </a:solidFill>
                <a:latin typeface="Xolonium" panose="02000503000000000000" pitchFamily="2" charset="0"/>
              </a:rPr>
              <a:t>TIMELINE  + 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AFAFA"/>
                </a:solidFill>
                <a:latin typeface="Arial"/>
              </a:rPr>
              <a:t>Boring milestones. Realistic dates.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828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dirty="0">
                <a:solidFill>
                  <a:srgbClr val="10B981"/>
                </a:solidFill>
                <a:latin typeface="Xolonium" panose="02000503000000000000" pitchFamily="2" charset="0"/>
              </a:rPr>
              <a:t>Aug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20116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AFAFA"/>
                </a:solidFill>
                <a:latin typeface="Arial"/>
              </a:rPr>
              <a:t>Launch + EVT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1828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dirty="0">
                <a:solidFill>
                  <a:srgbClr val="34D399"/>
                </a:solidFill>
                <a:latin typeface="Xolonium" panose="02000503000000000000" pitchFamily="2" charset="0"/>
              </a:rPr>
              <a:t>Oct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4688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AFAFA"/>
                </a:solidFill>
                <a:latin typeface="Arial"/>
              </a:rPr>
              <a:t>DVT freeze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828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dirty="0">
                <a:solidFill>
                  <a:srgbClr val="A855F7"/>
                </a:solidFill>
                <a:latin typeface="Xolonium" panose="02000503000000000000" pitchFamily="2" charset="0"/>
              </a:rPr>
              <a:t>Nov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9260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AFAFA"/>
                </a:solidFill>
                <a:latin typeface="Arial"/>
              </a:rPr>
              <a:t>PVT 200u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1828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dirty="0">
                <a:solidFill>
                  <a:srgbClr val="10B981"/>
                </a:solidFill>
                <a:latin typeface="Xolonium" panose="02000503000000000000" pitchFamily="2" charset="0"/>
              </a:rPr>
              <a:t>Jan 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3832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AFAFA"/>
                </a:solidFill>
                <a:latin typeface="Arial"/>
              </a:rPr>
              <a:t>ThoxClip ships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1828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dirty="0">
                <a:solidFill>
                  <a:srgbClr val="34D399"/>
                </a:solidFill>
                <a:latin typeface="Xolonium" panose="02000503000000000000" pitchFamily="2" charset="0"/>
              </a:rPr>
              <a:t>Feb 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8404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AFAFA"/>
                </a:solidFill>
                <a:latin typeface="Arial"/>
              </a:rPr>
              <a:t>ThoxMini + ThoxAir 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97680"/>
            <a:ext cx="1828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dirty="0">
                <a:solidFill>
                  <a:srgbClr val="F59E0B"/>
                </a:solidFill>
                <a:latin typeface="Xolonium" panose="02000503000000000000" pitchFamily="2" charset="0"/>
              </a:rPr>
              <a:t>Apr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2976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AFAFA"/>
                </a:solidFill>
                <a:latin typeface="Arial"/>
              </a:rPr>
              <a:t>ThoxNova ships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54880"/>
            <a:ext cx="18288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dirty="0">
                <a:solidFill>
                  <a:srgbClr val="A855F7"/>
                </a:solidFill>
                <a:latin typeface="Xolonium" panose="02000503000000000000" pitchFamily="2" charset="0"/>
              </a:rPr>
              <a:t>May 2027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75488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AFAFA"/>
                </a:solidFill>
                <a:latin typeface="Arial"/>
              </a:rPr>
              <a:t>Family Bundle ships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2011680"/>
            <a:ext cx="4572000" cy="4114800"/>
          </a:xfrm>
          <a:prstGeom prst="roundRect">
            <a:avLst>
              <a:gd name="adj" fmla="val 6000"/>
            </a:avLst>
          </a:prstGeom>
          <a:solidFill>
            <a:srgbClr val="18181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0" y="2148840"/>
            <a:ext cx="420624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dirty="0">
                <a:solidFill>
                  <a:srgbClr val="F59E0B"/>
                </a:solidFill>
                <a:latin typeface="Xolonium" panose="02000503000000000000" pitchFamily="2" charset="0"/>
              </a:rPr>
              <a:t>RISKS  +  MITIGATIONS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560320"/>
            <a:ext cx="42062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FAFAFA"/>
                </a:solidFill>
                <a:latin typeface="Arial"/>
              </a:rPr>
              <a:t>Supply: alt vendors lined up. ThoxMini fallback = Luckfox RV1103 (prototyped). ThoxAir fallback = Pi Zero 2 W (prototyped).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AFAFA"/>
                </a:solidFill>
                <a:latin typeface="Arial"/>
              </a:rPr>
              <a:t>Firmware: every runtime already in alpha. No language-model R&amp;D on the critical path.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AFAFA"/>
                </a:solidFill>
                <a:latin typeface="Arial"/>
              </a:rPr>
              <a:t>Overclaim: we will never tell you a 64 MB device hosts an LLM.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FAFAFA"/>
                </a:solidFill>
                <a:latin typeface="Arial"/>
              </a:rPr>
              <a:t>Fulfillment: USA + EU warehouses, regional partners for tariff hedge.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92240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THOX.ai  Your AI, on silicon you own.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92240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411480"/>
            <a:ext cx="12801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dirty="0">
                <a:solidFill>
                  <a:srgbClr val="10B981"/>
                </a:solidFill>
                <a:latin typeface="Xolonium" panose="02000503000000000000" pitchFamily="2" charset="0"/>
              </a:rPr>
              <a:t>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 i="0">
                <a:solidFill>
                  <a:srgbClr val="FAFAFA"/>
                </a:solidFill>
                <a:latin typeface="Arial"/>
              </a:rPr>
              <a:t>Back the campaign.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1">
                <a:solidFill>
                  <a:srgbClr val="34D399"/>
                </a:solidFill>
                <a:latin typeface="Arial"/>
              </a:rPr>
              <a:t>Your AI, on silicon you 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5488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dirty="0">
                <a:solidFill>
                  <a:srgbClr val="FAFAFA"/>
                </a:solidFill>
                <a:latin typeface="Arial"/>
              </a:rPr>
              <a:t>Lifetime firmware updates on every tier.</a:t>
            </a:r>
          </a:p>
          <a:p>
            <a:pPr algn="l">
              <a:spcAft>
                <a:spcPts val="600"/>
              </a:spcAft>
            </a:pPr>
            <a:r>
              <a:rPr sz="1600" b="0" dirty="0">
                <a:solidFill>
                  <a:srgbClr val="FAFAFA"/>
                </a:solidFill>
                <a:latin typeface="Arial"/>
              </a:rPr>
              <a:t>Schematics + </a:t>
            </a:r>
            <a:r>
              <a:rPr sz="1600" b="0" dirty="0" err="1">
                <a:solidFill>
                  <a:srgbClr val="FAFAFA"/>
                </a:solidFill>
                <a:latin typeface="Arial"/>
              </a:rPr>
              <a:t>Buildroot</a:t>
            </a:r>
            <a:r>
              <a:rPr sz="1600" b="0" dirty="0">
                <a:solidFill>
                  <a:srgbClr val="FAFAFA"/>
                </a:solidFill>
                <a:latin typeface="Arial"/>
              </a:rPr>
              <a:t> configs shipped with every device.</a:t>
            </a:r>
          </a:p>
          <a:p>
            <a:pPr algn="l">
              <a:spcAft>
                <a:spcPts val="600"/>
              </a:spcAft>
            </a:pPr>
            <a:r>
              <a:rPr sz="1600" b="0" dirty="0">
                <a:solidFill>
                  <a:srgbClr val="FAFAFA"/>
                </a:solidFill>
                <a:latin typeface="Arial"/>
              </a:rPr>
              <a:t>Open contact: every email gets a human reply within 5 business days.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47358"/>
            <a:ext cx="109728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 err="1">
                <a:solidFill>
                  <a:srgbClr val="34D399"/>
                </a:solidFill>
                <a:latin typeface="Xolonium" panose="02000503000000000000" pitchFamily="2" charset="0"/>
              </a:rPr>
              <a:t>kickstarter.com</a:t>
            </a:r>
            <a:r>
              <a:rPr sz="1400" dirty="0">
                <a:solidFill>
                  <a:srgbClr val="34D399"/>
                </a:solidFill>
                <a:latin typeface="Xolonium" panose="02000503000000000000" pitchFamily="2" charset="0"/>
              </a:rPr>
              <a:t>/</a:t>
            </a:r>
            <a:r>
              <a:rPr sz="1400" dirty="0" err="1">
                <a:solidFill>
                  <a:srgbClr val="34D399"/>
                </a:solidFill>
                <a:latin typeface="Xolonium" panose="02000503000000000000" pitchFamily="2" charset="0"/>
              </a:rPr>
              <a:t>thox</a:t>
            </a:r>
            <a:r>
              <a:rPr sz="1400" dirty="0">
                <a:solidFill>
                  <a:srgbClr val="34D399"/>
                </a:solidFill>
                <a:latin typeface="Xolonium" panose="02000503000000000000" pitchFamily="2" charset="0"/>
              </a:rPr>
              <a:t>-ai   |   thox.ai   |   </a:t>
            </a:r>
            <a:r>
              <a:rPr sz="1400" dirty="0" err="1">
                <a:solidFill>
                  <a:srgbClr val="34D399"/>
                </a:solidFill>
                <a:latin typeface="Xolonium" panose="02000503000000000000" pitchFamily="2" charset="0"/>
              </a:rPr>
              <a:t>github.com</a:t>
            </a:r>
            <a:r>
              <a:rPr sz="1400" dirty="0">
                <a:solidFill>
                  <a:srgbClr val="34D399"/>
                </a:solidFill>
                <a:latin typeface="Xolonium" panose="02000503000000000000" pitchFamily="2" charset="0"/>
              </a:rPr>
              <a:t>/</a:t>
            </a:r>
            <a:r>
              <a:rPr lang="en-US" sz="1400" dirty="0" err="1">
                <a:solidFill>
                  <a:srgbClr val="34D399"/>
                </a:solidFill>
                <a:latin typeface="Xolonium" panose="02000503000000000000" pitchFamily="2" charset="0"/>
              </a:rPr>
              <a:t>thox</a:t>
            </a:r>
            <a:r>
              <a:rPr lang="en-US" sz="1400" dirty="0">
                <a:solidFill>
                  <a:srgbClr val="34D399"/>
                </a:solidFill>
                <a:latin typeface="Xolonium" panose="02000503000000000000" pitchFamily="2" charset="0"/>
              </a:rPr>
              <a:t>-ai</a:t>
            </a:r>
            <a:endParaRPr sz="1400" dirty="0">
              <a:solidFill>
                <a:srgbClr val="34D399"/>
              </a:solidFill>
              <a:latin typeface="Xolonium" panose="02000503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6492240"/>
            <a:ext cx="7315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THOX.ai  Your AI, on silicon you own.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9144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dirty="0">
                <a:solidFill>
                  <a:srgbClr val="475569"/>
                </a:solidFill>
                <a:latin typeface="Xolonium" panose="02000503000000000000" pitchFamily="2" charset="0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1451</Words>
  <Application>Microsoft Macintosh PowerPoint</Application>
  <PresentationFormat>Widescreen</PresentationFormat>
  <Paragraphs>239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Xolonium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Tommy Xaypanya</cp:lastModifiedBy>
  <cp:revision>7</cp:revision>
  <dcterms:created xsi:type="dcterms:W3CDTF">2013-01-27T09:14:16Z</dcterms:created>
  <dcterms:modified xsi:type="dcterms:W3CDTF">2026-06-10T20:43:34Z</dcterms:modified>
  <cp:category/>
</cp:coreProperties>
</file>