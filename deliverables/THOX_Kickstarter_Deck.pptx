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11480"/>
            <a:ext cx="128016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AFAFA"/>
                </a:solidFill>
                <a:latin typeface="Consolas"/>
              </a:rPr>
              <a:t>THOX.ai</a:t>
            </a:r>
          </a:p>
        </p:txBody>
      </p:sp>
      <p:sp>
        <p:nvSpPr>
          <p:cNvPr id="5" name="Oval 4"/>
          <p:cNvSpPr/>
          <p:nvPr/>
        </p:nvSpPr>
        <p:spPr>
          <a:xfrm>
            <a:off x="1325880" y="384048"/>
            <a:ext cx="109728" cy="1097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>
                <a:solidFill>
                  <a:srgbClr val="FAFAFA"/>
                </a:solidFill>
                <a:latin typeface="Arial"/>
              </a:rPr>
              <a:t>Your AI, on silicon you 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94A3B8"/>
                </a:solidFill>
                <a:latin typeface="Arial"/>
              </a:rPr>
              <a:t>A unified Kickstarter for ThoxClip, ThoxMini, ThoxAir, and ThoxNova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75488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0" bIns="0"/>
          <a:lstStyle/>
          <a:p>
            <a:pPr algn="ctr"/>
            <a:r>
              <a:rPr sz="1100" b="1">
                <a:solidFill>
                  <a:srgbClr val="0A0E14"/>
                </a:solidFill>
                <a:latin typeface="Consolas"/>
              </a:rPr>
              <a:t>Four devices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475488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0" bIns="0"/>
          <a:lstStyle/>
          <a:p>
            <a:pPr algn="ctr"/>
            <a:r>
              <a:rPr sz="1100" b="1">
                <a:solidFill>
                  <a:srgbClr val="0A0E14"/>
                </a:solidFill>
                <a:latin typeface="Consolas"/>
              </a:rPr>
              <a:t>One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4754880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 tIns="0" bIns="0"/>
          <a:lstStyle/>
          <a:p>
            <a:pPr algn="ctr"/>
            <a:r>
              <a:rPr sz="1100" b="1">
                <a:solidFill>
                  <a:srgbClr val="0A0E14"/>
                </a:solidFill>
                <a:latin typeface="Consolas"/>
              </a:rPr>
              <a:t>Honest silicon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34D399"/>
                </a:solidFill>
                <a:latin typeface="Consolas"/>
              </a:rPr>
              <a:t>Aug 2026 launch  |  $250K baseline  |  Ships Jan-Apr 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Consolas"/>
              </a:rPr>
              <a:t>THOX.ai  Your AI, on silicon you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75569"/>
                </a:solidFill>
                <a:latin typeface="Consolas"/>
              </a:rP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11480"/>
            <a:ext cx="128016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0B981"/>
                </a:solidFill>
                <a:latin typeface="Consolas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 i="0">
                <a:solidFill>
                  <a:srgbClr val="FAFAFA"/>
                </a:solidFill>
                <a:latin typeface="Arial"/>
              </a:rPr>
              <a:t>Your AI lives in someone else’s datacenter.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1">
                <a:solidFill>
                  <a:srgbClr val="94A3B8"/>
                </a:solidFill>
                <a:latin typeface="Arial"/>
              </a:rPr>
              <a:t>Rented. Throttled. Theirs.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40480"/>
            <a:ext cx="109728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AFAFA"/>
                </a:solidFill>
                <a:latin typeface="Arial"/>
              </a:rPr>
              <a:t>Every AI assistant on the market is leased software running on rented silicon.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FAFAFA"/>
                </a:solidFill>
                <a:latin typeface="Arial"/>
              </a:rPr>
              <a:t>You cannot host it. You cannot extend it. One policy change away from a different product.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FAFAFA"/>
                </a:solidFill>
                <a:latin typeface="Arial"/>
              </a:rPr>
              <a:t>The local-first runtimes that make on-device AI viable have arrived. The bodies for that brain have 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Consolas"/>
              </a:rPr>
              <a:t>THOX.ai  Your AI, on silicon you own.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75569"/>
                </a:solidFill>
                <a:latin typeface="Consolas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11480"/>
            <a:ext cx="128016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084FC"/>
                </a:solidFill>
                <a:latin typeface="Consolas"/>
              </a:rPr>
              <a:t>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AFAFA"/>
                </a:solidFill>
                <a:latin typeface="Arial"/>
              </a:rPr>
              <a:t>Personal AI should run on silicon you 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94A3B8"/>
                </a:solidFill>
                <a:latin typeface="Arial"/>
              </a:rPr>
              <a:t>A family of devices, each honest about its job.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657600"/>
            <a:ext cx="2706624" cy="2286000"/>
          </a:xfrm>
          <a:prstGeom prst="roundRect">
            <a:avLst>
              <a:gd name="adj" fmla="val 6000"/>
            </a:avLst>
          </a:prstGeom>
          <a:solidFill>
            <a:srgbClr val="18181B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WEARABLE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60520"/>
            <a:ext cx="23408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AFAFA"/>
                </a:solidFill>
                <a:latin typeface="Arial"/>
              </a:rPr>
              <a:t>ThoxClip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00600"/>
            <a:ext cx="234086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Arial"/>
              </a:rPr>
              <a:t>Listens, taps, forwards.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38144" y="3657600"/>
            <a:ext cx="2706624" cy="2286000"/>
          </a:xfrm>
          <a:prstGeom prst="roundRect">
            <a:avLst>
              <a:gd name="adj" fmla="val 6000"/>
            </a:avLst>
          </a:prstGeom>
          <a:solidFill>
            <a:srgbClr val="18181B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3794760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34D399"/>
                </a:solidFill>
                <a:latin typeface="Consolas"/>
              </a:rPr>
              <a:t>POCKETABLE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1024" y="4160520"/>
            <a:ext cx="23408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AFAFA"/>
                </a:solidFill>
                <a:latin typeface="Arial"/>
              </a:rPr>
              <a:t>ThoxMini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4800600"/>
            <a:ext cx="234086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Arial"/>
              </a:rPr>
              <a:t>RISC-V. Sub-watt. Honest.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3657600"/>
            <a:ext cx="2706624" cy="2286000"/>
          </a:xfrm>
          <a:prstGeom prst="roundRect">
            <a:avLst>
              <a:gd name="adj" fmla="val 6000"/>
            </a:avLst>
          </a:prstGeom>
          <a:solidFill>
            <a:srgbClr val="18181B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3794760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A855F7"/>
                </a:solidFill>
                <a:latin typeface="Consolas"/>
              </a:rPr>
              <a:t>WIRELESS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4160520"/>
            <a:ext cx="23408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AFAFA"/>
                </a:solidFill>
                <a:latin typeface="Arial"/>
              </a:rPr>
              <a:t>ThoxAir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800600"/>
            <a:ext cx="234086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Arial"/>
              </a:rPr>
              <a:t>Clusters over WiFi.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34272" y="3657600"/>
            <a:ext cx="2706624" cy="2286000"/>
          </a:xfrm>
          <a:prstGeom prst="roundRect">
            <a:avLst>
              <a:gd name="adj" fmla="val 6000"/>
            </a:avLst>
          </a:prstGeom>
          <a:solidFill>
            <a:srgbClr val="18181B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17152" y="3794760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59E0B"/>
                </a:solidFill>
                <a:latin typeface="Consolas"/>
              </a:rPr>
              <a:t>DESKTOP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17152" y="4160520"/>
            <a:ext cx="234086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AFAFA"/>
                </a:solidFill>
                <a:latin typeface="Arial"/>
              </a:rPr>
              <a:t>ThoxNova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7152" y="4800600"/>
            <a:ext cx="234086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Arial"/>
              </a:rPr>
              <a:t>Hosts the LLM.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Consolas"/>
              </a:rPr>
              <a:t>THOX.ai  Your AI, on silicon you own.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75569"/>
                </a:solidFill>
                <a:latin typeface="Consolas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11480"/>
            <a:ext cx="128016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0B981"/>
                </a:solidFill>
                <a:latin typeface="Consolas"/>
              </a:rPr>
              <a:t>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AFAFA"/>
                </a:solidFill>
                <a:latin typeface="Arial"/>
              </a:rPr>
              <a:t>Four devices, one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4D399"/>
                </a:solidFill>
                <a:latin typeface="Consolas"/>
              </a:rPr>
              <a:t>Device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1945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4D399"/>
                </a:solidFill>
                <a:latin typeface="Consolas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1945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4D399"/>
                </a:solidFill>
                <a:latin typeface="Consolas"/>
              </a:rPr>
              <a:t>Hardware floor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21945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4D399"/>
                </a:solidFill>
                <a:latin typeface="Consolas"/>
              </a:rPr>
              <a:t>Backer price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2514600"/>
            <a:ext cx="11247120" cy="0"/>
          </a:xfrm>
          <a:prstGeom prst="line">
            <a:avLst/>
          </a:prstGeom>
          <a:ln w="127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11480" y="2761488"/>
            <a:ext cx="128016" cy="12801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5176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AFAFA"/>
                </a:solidFill>
                <a:latin typeface="Arial"/>
              </a:rPr>
              <a:t>ThoxClip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65176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Arial"/>
              </a:rPr>
              <a:t>Wearable BLE clip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651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4D399"/>
                </a:solidFill>
                <a:latin typeface="Consolas"/>
              </a:rPr>
              <a:t>nRF52840 + dual mic + IMU + BLE 5.3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517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AFAFA"/>
                </a:solidFill>
                <a:latin typeface="Consolas"/>
              </a:rPr>
              <a:t>$39 early / $49</a:t>
            </a:r>
          </a:p>
        </p:txBody>
      </p:sp>
      <p:sp>
        <p:nvSpPr>
          <p:cNvPr id="16" name="Oval 15"/>
          <p:cNvSpPr/>
          <p:nvPr/>
        </p:nvSpPr>
        <p:spPr>
          <a:xfrm>
            <a:off x="411480" y="3630168"/>
            <a:ext cx="128016" cy="128016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5204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AFAFA"/>
                </a:solidFill>
                <a:latin typeface="Arial"/>
              </a:rPr>
              <a:t>ThoxMini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35204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Arial"/>
              </a:rPr>
              <a:t>Pocketable RISC-V node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520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4D399"/>
                </a:solidFill>
                <a:latin typeface="Consolas"/>
              </a:rPr>
              <a:t>Milk-V Duo CV1800B / 64 MB / sub-1W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352044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AFAFA"/>
                </a:solidFill>
                <a:latin typeface="Consolas"/>
              </a:rPr>
              <a:t>$69</a:t>
            </a:r>
          </a:p>
        </p:txBody>
      </p:sp>
      <p:sp>
        <p:nvSpPr>
          <p:cNvPr id="21" name="Oval 20"/>
          <p:cNvSpPr/>
          <p:nvPr/>
        </p:nvSpPr>
        <p:spPr>
          <a:xfrm>
            <a:off x="411480" y="4498848"/>
            <a:ext cx="128016" cy="128016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38912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AFAFA"/>
                </a:solidFill>
                <a:latin typeface="Arial"/>
              </a:rPr>
              <a:t>ThoxAir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438912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Arial"/>
              </a:rPr>
              <a:t>Wireless cluster node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43891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4D399"/>
                </a:solidFill>
                <a:latin typeface="Consolas"/>
              </a:rPr>
              <a:t>Pi Zero W class / 512 MB / 2.4 GHz WiFi + BT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43891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AFAFA"/>
                </a:solidFill>
                <a:latin typeface="Consolas"/>
              </a:rPr>
              <a:t>$79 / $349 (4-pack)</a:t>
            </a:r>
          </a:p>
        </p:txBody>
      </p:sp>
      <p:sp>
        <p:nvSpPr>
          <p:cNvPr id="26" name="Oval 25"/>
          <p:cNvSpPr/>
          <p:nvPr/>
        </p:nvSpPr>
        <p:spPr>
          <a:xfrm>
            <a:off x="411480" y="5367528"/>
            <a:ext cx="128016" cy="12801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2578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AFAFA"/>
                </a:solidFill>
                <a:latin typeface="Arial"/>
              </a:rPr>
              <a:t>ThoxNova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52578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Arial"/>
              </a:rPr>
              <a:t>Desktop inference hub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52578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4D399"/>
                </a:solidFill>
                <a:latin typeface="Consolas"/>
              </a:rPr>
              <a:t>Intel N100 / 16 GB / passive / iGPU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525780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AFAFA"/>
                </a:solidFill>
                <a:latin typeface="Consolas"/>
              </a:rPr>
              <a:t>$499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Consolas"/>
              </a:rPr>
              <a:t>THOX.ai  Your AI, on silicon you own.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75569"/>
                </a:solidFill>
                <a:latin typeface="Consolas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11480"/>
            <a:ext cx="128016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0B981"/>
                </a:solidFill>
                <a:latin typeface="Consolas"/>
              </a:rPr>
              <a:t>THE FRONT DOOR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AFAFA"/>
                </a:solidFill>
                <a:latin typeface="Arial"/>
              </a:rPr>
              <a:t>ThoxClip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94A3B8"/>
                </a:solidFill>
                <a:latin typeface="Arial"/>
              </a:rPr>
              <a:t>Listens, taps, forwards.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68580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AFAFA"/>
                </a:solidFill>
                <a:latin typeface="Arial"/>
              </a:rPr>
              <a:t>Wearable BLE clip with dual mics and a 6-axis IMU.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AFAFA"/>
                </a:solidFill>
                <a:latin typeface="Arial"/>
              </a:rPr>
              <a:t>Runs wake-word, tap classifier, and fall-detect on-device.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AFAFA"/>
                </a:solidFill>
                <a:latin typeface="Arial"/>
              </a:rPr>
              <a:t>Routes everything else over BLE to whichever THOX node it is paired with.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AFAFA"/>
                </a:solidFill>
                <a:latin typeface="Arial"/>
              </a:rPr>
              <a:t>Magnetic clip, aluminum body, 12-hour battery, USB-C charging.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3108960"/>
            <a:ext cx="3657600" cy="2743200"/>
          </a:xfrm>
          <a:prstGeom prst="roundRect">
            <a:avLst>
              <a:gd name="adj" fmla="val 6000"/>
            </a:avLst>
          </a:prstGeom>
          <a:solidFill>
            <a:srgbClr val="18181B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32461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onsolas"/>
              </a:rPr>
              <a:t>SPECS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611880"/>
            <a:ext cx="3291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FAFAFA"/>
                </a:solidFill>
                <a:latin typeface="Consolas"/>
              </a:rPr>
              <a:t>SoC      nRF52840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AFAFA"/>
                </a:solidFill>
                <a:latin typeface="Consolas"/>
              </a:rPr>
              <a:t>Mics     2 × MEMS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AFAFA"/>
                </a:solidFill>
                <a:latin typeface="Consolas"/>
              </a:rPr>
              <a:t>Sensors  6-axis IMU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AFAFA"/>
                </a:solidFill>
                <a:latin typeface="Consolas"/>
              </a:rPr>
              <a:t>Radio    BLE 5.3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AFAFA"/>
                </a:solidFill>
                <a:latin typeface="Consolas"/>
              </a:rPr>
              <a:t>Power    USB-C, 12 hr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AFAFA"/>
                </a:solidFill>
                <a:latin typeface="Consolas"/>
              </a:rPr>
              <a:t>Body     Anodized 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0B981"/>
                </a:solidFill>
                <a:latin typeface="Consolas"/>
              </a:rPr>
              <a:t>Price  $39 early-bird  |  $49 list  |  $109 with ThoxMini (Maker Kit)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Consolas"/>
              </a:rPr>
              <a:t>THOX.ai  Your AI, on silicon you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75569"/>
                </a:solidFill>
                <a:latin typeface="Consolas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11480"/>
            <a:ext cx="1280160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4D399"/>
                </a:solidFill>
                <a:latin typeface="Consolas"/>
              </a:rPr>
              <a:t>THE POCKET NODE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AFAFA"/>
                </a:solidFill>
                <a:latin typeface="Arial"/>
              </a:rPr>
              <a:t>ThoxMini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94A3B8"/>
                </a:solidFill>
                <a:latin typeface="Arial"/>
              </a:rPr>
              <a:t>RISC-V. Sub-watt. Honest about what it cannot 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68580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AFAFA"/>
                </a:solidFill>
                <a:latin typeface="Arial"/>
              </a:rPr>
              <a:t>Pocketable RISC-V node built on the Milk-V Duo (CV1800B dual-core 1 GHz).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AFAFA"/>
                </a:solidFill>
                <a:latin typeface="Arial"/>
              </a:rPr>
              <a:t>Boots ThoxOS Mini in under 3 seconds. No fans, no battery, no display.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AFAFA"/>
                </a:solidFill>
                <a:latin typeface="Arial"/>
              </a:rPr>
              <a:t>Edge sensor processing, MQTT gateway, ThoxClip relay, HDMI-CEC THOX output.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AFAFA"/>
                </a:solidFill>
                <a:latin typeface="Arial"/>
              </a:rPr>
              <a:t>Offloads chat-class inference to ThoxNova. Will never claim to host an LLM.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3108960"/>
            <a:ext cx="3657600" cy="2743200"/>
          </a:xfrm>
          <a:prstGeom prst="roundRect">
            <a:avLst>
              <a:gd name="adj" fmla="val 6000"/>
            </a:avLst>
          </a:prstGeom>
          <a:solidFill>
            <a:srgbClr val="18181B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32461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34D399"/>
                </a:solidFill>
                <a:latin typeface="Consolas"/>
              </a:rPr>
              <a:t>SPECS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611880"/>
            <a:ext cx="3291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FAFAFA"/>
                </a:solidFill>
                <a:latin typeface="Consolas"/>
              </a:rPr>
              <a:t>SoC      Milk-V Duo (CV1800B)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AFAFA"/>
                </a:solidFill>
                <a:latin typeface="Consolas"/>
              </a:rPr>
              <a:t>Cores    2 × RISC-V @ 1 GHz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AFAFA"/>
                </a:solidFill>
                <a:latin typeface="Consolas"/>
              </a:rPr>
              <a:t>Memory   64 MB SRAM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AFAFA"/>
                </a:solidFill>
                <a:latin typeface="Consolas"/>
              </a:rPr>
              <a:t>Storage  microSD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AFAFA"/>
                </a:solidFill>
                <a:latin typeface="Consolas"/>
              </a:rPr>
              <a:t>Power    &lt;1 W sustained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AFAFA"/>
                </a:solidFill>
                <a:latin typeface="Consolas"/>
              </a:rPr>
              <a:t>I/O      USB-C, 3 UART, 2 I2C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34D399"/>
                </a:solidFill>
                <a:latin typeface="Consolas"/>
              </a:rPr>
              <a:t>Price  $69  |  Maker Kit (ThoxMini + ThoxClip) $109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Consolas"/>
              </a:rPr>
              <a:t>THOX.ai  Your AI, on silicon you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75569"/>
                </a:solidFill>
                <a:latin typeface="Consolas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11480"/>
            <a:ext cx="128016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A855F7"/>
                </a:solidFill>
                <a:latin typeface="Consolas"/>
              </a:rPr>
              <a:t>THE WIRELESS NODE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AFAFA"/>
                </a:solidFill>
                <a:latin typeface="Arial"/>
              </a:rPr>
              <a:t>ThoxAir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94A3B8"/>
                </a:solidFill>
                <a:latin typeface="Arial"/>
              </a:rPr>
              <a:t>Clusters over WiFi. The cluster appears to the agent as one node.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68580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AFAFA"/>
                </a:solidFill>
                <a:latin typeface="Arial"/>
              </a:rPr>
              <a:t>Pi Zero W class node with magnetic pogo connectors on top and bottom.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AFAFA"/>
                </a:solidFill>
                <a:latin typeface="Arial"/>
              </a:rPr>
              <a:t>Four ThoxAir boards stack on one USB-C 5V/4A cable into a complete MagStack Air cluster.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AFAFA"/>
                </a:solidFill>
                <a:latin typeface="Arial"/>
              </a:rPr>
              <a:t>mDNS leader election, SQLite-backed task queue, no central controller to provision.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AFAFA"/>
                </a:solidFill>
                <a:latin typeface="Arial"/>
              </a:rPr>
              <a:t>Sub-1B model runs across the 4-node stack via llama.cpp --rpc layer-pipeline parallelism.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3108960"/>
            <a:ext cx="3657600" cy="2743200"/>
          </a:xfrm>
          <a:prstGeom prst="roundRect">
            <a:avLst>
              <a:gd name="adj" fmla="val 6000"/>
            </a:avLst>
          </a:prstGeom>
          <a:solidFill>
            <a:srgbClr val="18181B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32461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A855F7"/>
                </a:solidFill>
                <a:latin typeface="Consolas"/>
              </a:rPr>
              <a:t>SPECS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611880"/>
            <a:ext cx="3291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FAFAFA"/>
                </a:solidFill>
                <a:latin typeface="Consolas"/>
              </a:rPr>
              <a:t>SoC      BCM2835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AFAFA"/>
                </a:solidFill>
                <a:latin typeface="Consolas"/>
              </a:rPr>
              <a:t>Memory   512 MB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AFAFA"/>
                </a:solidFill>
                <a:latin typeface="Consolas"/>
              </a:rPr>
              <a:t>Radio    2.4 GHz WiFi + BT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AFAFA"/>
                </a:solidFill>
                <a:latin typeface="Consolas"/>
              </a:rPr>
              <a:t>Storage  microSD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AFAFA"/>
                </a:solidFill>
                <a:latin typeface="Consolas"/>
              </a:rPr>
              <a:t>Stack    Magnetic 6-pin pogo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AFAFA"/>
                </a:solidFill>
                <a:latin typeface="Consolas"/>
              </a:rPr>
              <a:t>Cluster  MagStack Air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A855F7"/>
                </a:solidFill>
                <a:latin typeface="Consolas"/>
              </a:rPr>
              <a:t>Price  $79  |  Cluster Pack (4 + base) $349  |  Air Kit (ThoxAir + ThoxClip) $119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Consolas"/>
              </a:rPr>
              <a:t>THOX.ai  Your AI, on silicon you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75569"/>
                </a:solidFill>
                <a:latin typeface="Consolas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11480"/>
            <a:ext cx="128016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59E0B"/>
                </a:solidFill>
                <a:latin typeface="Consolas"/>
              </a:rPr>
              <a:t>THE DESKTOP 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AFAFA"/>
                </a:solidFill>
                <a:latin typeface="Arial"/>
              </a:rPr>
              <a:t>ThoxNova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94A3B8"/>
                </a:solidFill>
                <a:latin typeface="Arial"/>
              </a:rPr>
              <a:t>Hosts the LLM. Locally. Every other device routes 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68580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AFAFA"/>
                </a:solidFill>
                <a:latin typeface="Arial"/>
              </a:rPr>
              <a:t>LattePanda N100 (Intel N100, 16 GB DDR5, 256 GB NVMe). Passive cooling.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AFAFA"/>
                </a:solidFill>
                <a:latin typeface="Arial"/>
              </a:rPr>
              <a:t>Runs llama-server-sycl with Intel iGPU acceleration. Default models: Qwen3-7B, Gemma 3 12B, Llama 3.2 11B.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AFAFA"/>
                </a:solidFill>
                <a:latin typeface="Arial"/>
              </a:rPr>
              <a:t>Serves the THOX dashboard at http://thoxnova.local. MagStack Air leader for ThoxAir clusters.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AFAFA"/>
                </a:solidFill>
                <a:latin typeface="Arial"/>
              </a:rPr>
              <a:t>Aluminum case with the THOX badge in MagStack purple. Built-in dock for one ThoxClip.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3108960"/>
            <a:ext cx="3657600" cy="2743200"/>
          </a:xfrm>
          <a:prstGeom prst="roundRect">
            <a:avLst>
              <a:gd name="adj" fmla="val 6000"/>
            </a:avLst>
          </a:prstGeom>
          <a:solidFill>
            <a:srgbClr val="18181B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32461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59E0B"/>
                </a:solidFill>
                <a:latin typeface="Consolas"/>
              </a:rPr>
              <a:t>SPECS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611880"/>
            <a:ext cx="3291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FAFAFA"/>
                </a:solidFill>
                <a:latin typeface="Consolas"/>
              </a:rPr>
              <a:t>CPU      Intel N100 4C / 4T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AFAFA"/>
                </a:solidFill>
                <a:latin typeface="Consolas"/>
              </a:rPr>
              <a:t>Memory   16 GB DDR5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AFAFA"/>
                </a:solidFill>
                <a:latin typeface="Consolas"/>
              </a:rPr>
              <a:t>Storage  256 GB NVMe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AFAFA"/>
                </a:solidFill>
                <a:latin typeface="Consolas"/>
              </a:rPr>
              <a:t>Network  Ethernet, WiFi 6, BT 5.3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AFAFA"/>
                </a:solidFill>
                <a:latin typeface="Consolas"/>
              </a:rPr>
              <a:t>I/O      USB-C, USB-A, HDMI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AFAFA"/>
                </a:solidFill>
                <a:latin typeface="Consolas"/>
              </a:rPr>
              <a:t>Power    12 V DC, passive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59E0B"/>
                </a:solidFill>
                <a:latin typeface="Consolas"/>
              </a:rPr>
              <a:t>Price  $499  |  Family Bundle (Nova + Mini + Air + Clip) $599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Consolas"/>
              </a:rPr>
              <a:t>THOX.ai  Your AI, on silicon you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75569"/>
                </a:solidFill>
                <a:latin typeface="Consolas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11480"/>
            <a:ext cx="128016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0B981"/>
                </a:solidFill>
                <a:latin typeface="Consolas"/>
              </a:rPr>
              <a:t>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AFAFA"/>
                </a:solidFill>
                <a:latin typeface="Arial"/>
              </a:rPr>
              <a:t>How they work together.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560320"/>
            <a:ext cx="2011680" cy="1188720"/>
          </a:xfrm>
          <a:prstGeom prst="roundRect">
            <a:avLst>
              <a:gd name="adj" fmla="val 10000"/>
            </a:avLst>
          </a:prstGeom>
          <a:solidFill>
            <a:srgbClr val="18181B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69748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AFAFA"/>
                </a:solidFill>
                <a:latin typeface="Arial"/>
              </a:rPr>
              <a:t>ThoxClip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6324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Consolas"/>
              </a:rPr>
              <a:t>BLE 5.3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1554480"/>
            <a:ext cx="2377440" cy="1280160"/>
          </a:xfrm>
          <a:prstGeom prst="roundRect">
            <a:avLst>
              <a:gd name="adj" fmla="val 10000"/>
            </a:avLst>
          </a:prstGeom>
          <a:solidFill>
            <a:srgbClr val="18181B"/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60" y="169164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AFAFA"/>
                </a:solidFill>
                <a:latin typeface="Arial"/>
              </a:rPr>
              <a:t>ThoxMini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05740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4D399"/>
                </a:solidFill>
                <a:latin typeface="Consolas"/>
              </a:rPr>
              <a:t>USB / WiFi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3840480"/>
            <a:ext cx="2377440" cy="1280160"/>
          </a:xfrm>
          <a:prstGeom prst="roundRect">
            <a:avLst>
              <a:gd name="adj" fmla="val 10000"/>
            </a:avLst>
          </a:prstGeom>
          <a:solidFill>
            <a:srgbClr val="18181B"/>
          </a:solidFill>
          <a:ln w="952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4760" y="397764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AFAFA"/>
                </a:solidFill>
                <a:latin typeface="Arial"/>
              </a:rPr>
              <a:t>ThoxAir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434340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A855F7"/>
                </a:solidFill>
                <a:latin typeface="Consolas"/>
              </a:rPr>
              <a:t>MagStack Air WiFi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2560320"/>
            <a:ext cx="2560320" cy="1371600"/>
          </a:xfrm>
          <a:prstGeom prst="roundRect">
            <a:avLst>
              <a:gd name="adj" fmla="val 10000"/>
            </a:avLst>
          </a:prstGeom>
          <a:solidFill>
            <a:srgbClr val="18181B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86600" y="26974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AFAFA"/>
                </a:solidFill>
                <a:latin typeface="Arial"/>
              </a:rPr>
              <a:t>ThoxNova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306324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Consolas"/>
              </a:rPr>
              <a:t>LLM host / dashboard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58400" y="2560320"/>
            <a:ext cx="1828800" cy="1188720"/>
          </a:xfrm>
          <a:prstGeom prst="roundRect">
            <a:avLst>
              <a:gd name="adj" fmla="val 10000"/>
            </a:avLst>
          </a:prstGeom>
          <a:solidFill>
            <a:srgbClr val="18181B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5560" y="269748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AFAFA"/>
                </a:solidFill>
                <a:latin typeface="Arial"/>
              </a:rPr>
              <a:t>Cloud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5560" y="306324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onsolas"/>
              </a:rPr>
              <a:t>optional, your terms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2834640" y="2011680"/>
            <a:ext cx="822960" cy="914400"/>
          </a:xfrm>
          <a:prstGeom prst="line">
            <a:avLst/>
          </a:prstGeom>
          <a:ln w="190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834640" y="3383280"/>
            <a:ext cx="822960" cy="914400"/>
          </a:xfrm>
          <a:prstGeom prst="line">
            <a:avLst/>
          </a:prstGeom>
          <a:ln w="190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035040" y="2011680"/>
            <a:ext cx="914400" cy="914400"/>
          </a:xfrm>
          <a:prstGeom prst="line">
            <a:avLst/>
          </a:prstGeom>
          <a:ln w="19050">
            <a:solidFill>
              <a:srgbClr val="34D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035040" y="3383280"/>
            <a:ext cx="914400" cy="914400"/>
          </a:xfrm>
          <a:prstGeom prst="line">
            <a:avLst/>
          </a:prstGeom>
          <a:ln w="19050">
            <a:solidFill>
              <a:srgbClr val="A85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509760" y="3108960"/>
            <a:ext cx="548640" cy="0"/>
          </a:xfrm>
          <a:prstGeom prst="line">
            <a:avLst/>
          </a:prstGeom>
          <a:ln w="190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onsolas"/>
              </a:rPr>
              <a:t>ThoxClip listens.  ThoxMini and ThoxAir route.  ThoxNova hosts.  Cloud is optional and on your terms.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Consolas"/>
              </a:rPr>
              <a:t>THOX.ai  Your AI, on silicon you own.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75569"/>
                </a:solidFill>
                <a:latin typeface="Consolas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11480"/>
            <a:ext cx="128016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0B981"/>
                </a:solidFill>
                <a:latin typeface="Consolas"/>
              </a:rPr>
              <a:t>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AFAFA"/>
                </a:solidFill>
                <a:latin typeface="Arial"/>
              </a:rPr>
              <a:t>The software stack already ships. The hardware does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34D399"/>
                </a:solidFill>
                <a:latin typeface="Consolas"/>
              </a:rPr>
              <a:t>thox-vmlx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201168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AFAFA"/>
                </a:solidFill>
                <a:latin typeface="Arial"/>
              </a:rPr>
              <a:t>Apple Silicon MLX runtime live in alpha.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34D399"/>
                </a:solidFill>
                <a:latin typeface="Consolas"/>
              </a:rPr>
              <a:t>magstack-air family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60604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AFAFA"/>
                </a:solidFill>
                <a:latin typeface="Arial"/>
              </a:rPr>
              <a:t>Three Wi-Fi cluster repos already running on Pi Zero 2 W class boards.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34D399"/>
                </a:solidFill>
                <a:latin typeface="Consolas"/>
              </a:rPr>
              <a:t>thoxymicro family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320040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AFAFA"/>
                </a:solidFill>
                <a:latin typeface="Arial"/>
              </a:rPr>
              <a:t>Go agent for RV1103 and similar edge silicon; 5.1 MB binary ships.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34D399"/>
                </a:solidFill>
                <a:latin typeface="Consolas"/>
              </a:rPr>
              <a:t>thox-forge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79476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AFAFA"/>
                </a:solidFill>
                <a:latin typeface="Arial"/>
              </a:rPr>
              <a:t>Operator dashboard live on Vercel; sees every device, every cluster.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38912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34D399"/>
                </a:solidFill>
                <a:latin typeface="Consolas"/>
              </a:rPr>
              <a:t>thoxymicro-install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438912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AFAFA"/>
                </a:solidFill>
                <a:latin typeface="Arial"/>
              </a:rPr>
              <a:t>Public one-liner installer. Backers can flash their devices on unbox day.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834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34D399"/>
                </a:solidFill>
                <a:latin typeface="Consolas"/>
              </a:rPr>
              <a:t>Edge silicon caught 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498348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AFAFA"/>
                </a:solidFill>
                <a:latin typeface="Arial"/>
              </a:rPr>
              <a:t>RV1103 ($10), Pi Zero W class ($15), Milk-V Duo ($9), N100 ($150). All mature.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Consolas"/>
              </a:rPr>
              <a:t>THOX.ai  Your AI, on silicon you own.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75569"/>
                </a:solidFill>
                <a:latin typeface="Consolas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11480"/>
            <a:ext cx="128016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0B981"/>
                </a:solidFill>
                <a:latin typeface="Consolas"/>
              </a:rPr>
              <a:t>BACKER TIERS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AFAFA"/>
                </a:solidFill>
                <a:latin typeface="Arial"/>
              </a:rPr>
              <a:t>Pick the device. Or pick the family.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947672"/>
            <a:ext cx="128016" cy="12801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AFAFA"/>
                </a:solidFill>
                <a:latin typeface="Arial"/>
              </a:rPr>
              <a:t>Early-bird ThoxClip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8288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0B981"/>
                </a:solidFill>
                <a:latin typeface="Consolas"/>
              </a:rPr>
              <a:t>$39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828800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Arial"/>
              </a:rPr>
              <a:t>1 × ThoxClip + charger + lanyard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359152"/>
            <a:ext cx="128016" cy="12801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2402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AFAFA"/>
                </a:solidFill>
                <a:latin typeface="Arial"/>
              </a:rPr>
              <a:t>ThoxClip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2402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0B981"/>
                </a:solidFill>
                <a:latin typeface="Consolas"/>
              </a:rPr>
              <a:t>$49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240280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Arial"/>
              </a:rPr>
              <a:t>After early-bird sells out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2770632"/>
            <a:ext cx="128016" cy="128016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6517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AFAFA"/>
                </a:solidFill>
                <a:latin typeface="Arial"/>
              </a:rPr>
              <a:t>ThoxMini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65176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34D399"/>
                </a:solidFill>
                <a:latin typeface="Consolas"/>
              </a:rPr>
              <a:t>$69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651760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Arial"/>
              </a:rPr>
              <a:t>1 × ThoxMini + USB-C + microSD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3182112"/>
            <a:ext cx="128016" cy="128016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0632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AFAFA"/>
                </a:solidFill>
                <a:latin typeface="Arial"/>
              </a:rPr>
              <a:t>ThoxAir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0632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A855F7"/>
                </a:solidFill>
                <a:latin typeface="Consolas"/>
              </a:rPr>
              <a:t>$79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3063240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Arial"/>
              </a:rPr>
              <a:t>1 × ThoxAir + USB-C + microSD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3593592"/>
            <a:ext cx="128016" cy="128016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4747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AFAFA"/>
                </a:solidFill>
                <a:latin typeface="Arial"/>
              </a:rPr>
              <a:t>Maker Kit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4747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34D399"/>
                </a:solidFill>
                <a:latin typeface="Consolas"/>
              </a:rPr>
              <a:t>$109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3474720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Arial"/>
              </a:rPr>
              <a:t>ThoxMini + ThoxClip + dev docs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" y="4005072"/>
            <a:ext cx="128016" cy="128016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AFAFA"/>
                </a:solidFill>
                <a:latin typeface="Arial"/>
              </a:rPr>
              <a:t>Air Kit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38862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A855F7"/>
                </a:solidFill>
                <a:latin typeface="Consolas"/>
              </a:rPr>
              <a:t>$119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3886200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Arial"/>
              </a:rPr>
              <a:t>ThoxAir + ThoxClip + dev docs</a:t>
            </a:r>
          </a:p>
        </p:txBody>
      </p:sp>
      <p:sp>
        <p:nvSpPr>
          <p:cNvPr id="30" name="Oval 29"/>
          <p:cNvSpPr/>
          <p:nvPr/>
        </p:nvSpPr>
        <p:spPr>
          <a:xfrm>
            <a:off x="640080" y="4416552"/>
            <a:ext cx="128016" cy="12801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2976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AFAFA"/>
                </a:solidFill>
                <a:latin typeface="Arial"/>
              </a:rPr>
              <a:t>ThoxNova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42976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59E0B"/>
                </a:solidFill>
                <a:latin typeface="Consolas"/>
              </a:rPr>
              <a:t>$499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4297680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Arial"/>
              </a:rPr>
              <a:t>ThoxNova + brick + ThoxClip dock</a:t>
            </a:r>
          </a:p>
        </p:txBody>
      </p:sp>
      <p:sp>
        <p:nvSpPr>
          <p:cNvPr id="34" name="Oval 33"/>
          <p:cNvSpPr/>
          <p:nvPr/>
        </p:nvSpPr>
        <p:spPr>
          <a:xfrm>
            <a:off x="640080" y="4828032"/>
            <a:ext cx="128016" cy="128016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47091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AFAFA"/>
                </a:solidFill>
                <a:latin typeface="Arial"/>
              </a:rPr>
              <a:t>Cluster Pack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470916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A855F7"/>
                </a:solidFill>
                <a:latin typeface="Consolas"/>
              </a:rPr>
              <a:t>$349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52160" y="4709160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Arial"/>
              </a:rPr>
              <a:t>4 × ThoxAir + magnetic base + hub</a:t>
            </a:r>
          </a:p>
        </p:txBody>
      </p:sp>
      <p:sp>
        <p:nvSpPr>
          <p:cNvPr id="38" name="Oval 37"/>
          <p:cNvSpPr/>
          <p:nvPr/>
        </p:nvSpPr>
        <p:spPr>
          <a:xfrm>
            <a:off x="640080" y="5239512"/>
            <a:ext cx="128016" cy="12801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1206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AFAFA"/>
                </a:solidFill>
                <a:latin typeface="Arial"/>
              </a:rPr>
              <a:t>Family Bundle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0" y="51206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59E0B"/>
                </a:solidFill>
                <a:latin typeface="Consolas"/>
              </a:rPr>
              <a:t>$599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52160" y="5120640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Arial"/>
              </a:rPr>
              <a:t>Nova + Mini + Air + Clip + docs</a:t>
            </a:r>
          </a:p>
        </p:txBody>
      </p:sp>
      <p:sp>
        <p:nvSpPr>
          <p:cNvPr id="42" name="Oval 41"/>
          <p:cNvSpPr/>
          <p:nvPr/>
        </p:nvSpPr>
        <p:spPr>
          <a:xfrm>
            <a:off x="640080" y="5650992"/>
            <a:ext cx="128016" cy="12801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55321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AFAFA"/>
                </a:solidFill>
                <a:latin typeface="Arial"/>
              </a:rPr>
              <a:t>Founders Pack (100)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55321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59E0B"/>
                </a:solidFill>
                <a:latin typeface="Consolas"/>
              </a:rPr>
              <a:t>$1,299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0" y="5532120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Arial"/>
              </a:rPr>
              <a:t>Family + serial enclosure + lifetime updates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Consolas"/>
              </a:rPr>
              <a:t>THOX.ai  Your AI, on silicon you own.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75569"/>
                </a:solidFill>
                <a:latin typeface="Consolas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11480"/>
            <a:ext cx="128016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084FC"/>
                </a:solidFill>
                <a:latin typeface="Consolas"/>
              </a:rPr>
              <a:t>STRETCH GOALS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AFAFA"/>
                </a:solidFill>
                <a:latin typeface="Arial"/>
              </a:rPr>
              <a:t>Everyone wins as we grow.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54864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0B981"/>
                </a:solidFill>
                <a:latin typeface="Consolas"/>
              </a:rPr>
              <a:t>$250K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0116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AFAFA"/>
                </a:solidFill>
                <a:latin typeface="Arial"/>
              </a:rPr>
              <a:t>Baseline production run. All tiers ship as listed.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43200"/>
            <a:ext cx="54864" cy="3657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517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4D399"/>
                </a:solidFill>
                <a:latin typeface="Consolas"/>
              </a:rPr>
              <a:t>$500K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65176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AFAFA"/>
                </a:solidFill>
                <a:latin typeface="Arial"/>
              </a:rPr>
              <a:t>ThoxOS Mini preflashed with the THOX agent fleet preloaded.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83280"/>
            <a:ext cx="54864" cy="3657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9184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A855F7"/>
                </a:solidFill>
                <a:latin typeface="Consolas"/>
              </a:rPr>
              <a:t>$1.0M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2918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AFAFA"/>
                </a:solidFill>
                <a:latin typeface="Arial"/>
              </a:rPr>
              <a:t>MagStack Air firmware bundled on every ThoxAir at no extra cost.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4864" cy="36576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9319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C084FC"/>
                </a:solidFill>
                <a:latin typeface="Consolas"/>
              </a:rPr>
              <a:t>$1.5M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93192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AFAFA"/>
                </a:solidFill>
                <a:latin typeface="Arial"/>
              </a:rPr>
              <a:t>ThoxClip gets bone-conduction audio output.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63440"/>
            <a:ext cx="54864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57200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59E0B"/>
                </a:solidFill>
                <a:latin typeface="Consolas"/>
              </a:rPr>
              <a:t>$2.0M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457200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AFAFA"/>
                </a:solidFill>
                <a:latin typeface="Arial"/>
              </a:rPr>
              <a:t>ThoxNova gets a discrete NPU module slot (Hailo / RKNPU2 / Coral).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303520"/>
            <a:ext cx="54864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2120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59E0B"/>
                </a:solidFill>
                <a:latin typeface="Consolas"/>
              </a:rPr>
              <a:t>$3.0M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521208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AFAFA"/>
                </a:solidFill>
                <a:latin typeface="Arial"/>
              </a:rPr>
              <a:t>Open hardware: KiCad + STEP + Buildroot configs under CERN-OHL-S.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Consolas"/>
              </a:rPr>
              <a:t>THOX.ai  Your AI, on silicon you own.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75569"/>
                </a:solidFill>
                <a:latin typeface="Consolas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11480"/>
            <a:ext cx="128016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0B981"/>
                </a:solidFill>
                <a:latin typeface="Consolas"/>
              </a:rPr>
              <a:t>TIMELINE  +  RISKS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AFAFA"/>
                </a:solidFill>
                <a:latin typeface="Arial"/>
              </a:rPr>
              <a:t>Boring milestones. Realistic dates.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0B981"/>
                </a:solidFill>
                <a:latin typeface="Consolas"/>
              </a:rPr>
              <a:t>Aug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20116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AFAFA"/>
                </a:solidFill>
                <a:latin typeface="Arial"/>
              </a:rPr>
              <a:t>Launch + EVT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34D399"/>
                </a:solidFill>
                <a:latin typeface="Consolas"/>
              </a:rPr>
              <a:t>Oct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24688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AFAFA"/>
                </a:solidFill>
                <a:latin typeface="Arial"/>
              </a:rPr>
              <a:t>DVT freeze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A855F7"/>
                </a:solidFill>
                <a:latin typeface="Consolas"/>
              </a:rPr>
              <a:t>Nov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9260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AFAFA"/>
                </a:solidFill>
                <a:latin typeface="Arial"/>
              </a:rPr>
              <a:t>PVT 200u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832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0B981"/>
                </a:solidFill>
                <a:latin typeface="Consolas"/>
              </a:rPr>
              <a:t>Jan 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33832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AFAFA"/>
                </a:solidFill>
                <a:latin typeface="Arial"/>
              </a:rPr>
              <a:t>ThoxClip ships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34D399"/>
                </a:solidFill>
                <a:latin typeface="Consolas"/>
              </a:rPr>
              <a:t>Feb 2027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8404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AFAFA"/>
                </a:solidFill>
                <a:latin typeface="Arial"/>
              </a:rPr>
              <a:t>ThoxMini + ThoxAir 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976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F59E0B"/>
                </a:solidFill>
                <a:latin typeface="Consolas"/>
              </a:rPr>
              <a:t>Apr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42976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AFAFA"/>
                </a:solidFill>
                <a:latin typeface="Arial"/>
              </a:rPr>
              <a:t>ThoxNova ships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548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A855F7"/>
                </a:solidFill>
                <a:latin typeface="Consolas"/>
              </a:rPr>
              <a:t>May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7548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FAFAFA"/>
                </a:solidFill>
                <a:latin typeface="Arial"/>
              </a:rPr>
              <a:t>Family Bundle ships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0" y="2011680"/>
            <a:ext cx="4572000" cy="4114800"/>
          </a:xfrm>
          <a:prstGeom prst="roundRect">
            <a:avLst>
              <a:gd name="adj" fmla="val 6000"/>
            </a:avLst>
          </a:prstGeom>
          <a:solidFill>
            <a:srgbClr val="18181B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0" y="21488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59E0B"/>
                </a:solidFill>
                <a:latin typeface="Consolas"/>
              </a:rPr>
              <a:t>RISKS  +  MITIGATIONS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2560320"/>
            <a:ext cx="420624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AFAFA"/>
                </a:solidFill>
                <a:latin typeface="Arial"/>
              </a:rPr>
              <a:t>Supply: alt vendors lined up. ThoxMini fallback = Luckfox RV1103 (prototyped). ThoxAir fallback = Pi Zero 2 W (prototyped).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FAFAFA"/>
                </a:solidFill>
                <a:latin typeface="Arial"/>
              </a:rPr>
              <a:t>Firmware: every runtime already in alpha. No language-model R&amp;D on the critical path.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FAFAFA"/>
                </a:solidFill>
                <a:latin typeface="Arial"/>
              </a:rPr>
              <a:t>Overclaim: we will never tell you a 64 MB device hosts an LLM.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FAFAFA"/>
                </a:solidFill>
                <a:latin typeface="Arial"/>
              </a:rPr>
              <a:t>Fulfillment: USA + EU warehouses, regional partners for tariff hedge.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Consolas"/>
              </a:rPr>
              <a:t>THOX.ai  Your AI, on silicon you own.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75569"/>
                </a:solidFill>
                <a:latin typeface="Consolas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11480"/>
            <a:ext cx="128016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0B981"/>
                </a:solidFill>
                <a:latin typeface="Consolas"/>
              </a:rPr>
              <a:t>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>
                <a:solidFill>
                  <a:srgbClr val="FAFAFA"/>
                </a:solidFill>
                <a:latin typeface="Arial"/>
              </a:rPr>
              <a:t>Back the campaign.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576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1">
                <a:solidFill>
                  <a:srgbClr val="34D399"/>
                </a:solidFill>
                <a:latin typeface="Arial"/>
              </a:rPr>
              <a:t>Your AI, on silicon you 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548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AFAFA"/>
                </a:solidFill>
                <a:latin typeface="Arial"/>
              </a:rPr>
              <a:t>Lifetime firmware updates on every tier.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AFAFA"/>
                </a:solidFill>
                <a:latin typeface="Arial"/>
              </a:rPr>
              <a:t>Schematics + Buildroot configs shipped with every device.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AFAFA"/>
                </a:solidFill>
                <a:latin typeface="Arial"/>
              </a:rPr>
              <a:t>Open contact: every email gets a human reply within 5 business days.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34D399"/>
                </a:solidFill>
                <a:latin typeface="Consolas"/>
              </a:rPr>
              <a:t>kickstarter.com/thox-ai   |   thox.ai   |   github.com/ttracx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Consolas"/>
              </a:rPr>
              <a:t>THOX.ai  Your AI, on silicon you own.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475569"/>
                </a:solidFill>
                <a:latin typeface="Consolas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